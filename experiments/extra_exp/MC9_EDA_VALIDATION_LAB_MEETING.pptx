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실험의 질문과 공격 경계를 먼저 고정한다. DUT에는 MC_REG를 실제 레지스터 경계로 넣고 DFT scan chain에 target MC FF와 decoy FF를 함께 포함했다. 공격 코드가 보는 것은 anonymous full scan-out뿐이며, MC_9와 scan mapping은 사후 evaluator check에서만 사용한다. 따라서 이 결과는 모든 AES 구현에서 MC FF가 노출된다는 주장보다, 실제 합성·DFT·gate-level 경로에서도 제안 공격의 인터페이스가 닫힌다는 대표 검증이다.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중요한 연결은 Phase 0의 결과가 단순한 slot 번호로 끝나지 않는다는 점이다. slot 255와 C0 support를 이용해 32개의 MC function hypothesis를 만들고, Q128 transcript로 hypothesis를 검증한다. 이후에는 surviving hypothesis를 모두 포함한 joint key solve를 수행한다. 첫 번째 solve가 SAT라고 해서 성공으로 보지 않고, K가 다른 모델이 존재하는지를 두 번째 solve에서 확인한다. ambiguity가 남으면 현재 key pair를 구분하는 plaintext를 실제 DUT에 질의하고, 그 결과를 다시 제약에 추가한다.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결과는 Q128에서 바로 unique였다는 식으로 요약하면 안 된다. Q128과 Q129, Q130은 모두 alternative key가 남아 SAT→SAT였고, adaptive separator를 통해 관측을 누적한 Q131에서만 second solve가 UNSAT이 됐다. Q131에서는 h09 하나가 surviving hypothesis였으며, 공격 경로는 MC_9 ground-truth label이나 hidden key를 사용하지 않았다. 이 실험이 논문에서 지지하는 것은 anonymous scan channel을 실제 gate-level transcript와 solver로 연결할 수 있다는 점이다. 다만 한 개의 controlled representative DUT case이므로, physical implementation 전체에 대한 scan exposure prevalence를 주장하는 결과로 확대해서는 안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F34"/>
        </a:solidFill>
        <a:effectLst/>
      </p:bgPr>
    </p:bg>
    <p:spTree>
      <p:nvGrpSpPr>
        <p:cNvPr id="1" name=""/>
        <p:cNvGrpSpPr/>
        <p:nvPr/>
      </p:nvGrpSpPr>
      <p:grpSpPr/>
      <p:sp>
        <p:nvSpPr>
          <p:cNvPr id="2" name="TextBox 1"/>
          <p:cNvSpPr txBox="1"/>
          <p:nvPr/>
        </p:nvSpPr>
        <p:spPr>
          <a:xfrm>
            <a:off x="530352" y="338328"/>
            <a:ext cx="11109960" cy="530352"/>
          </a:xfrm>
          <a:prstGeom prst="rect">
            <a:avLst/>
          </a:prstGeom>
          <a:noFill/>
        </p:spPr>
        <p:txBody>
          <a:bodyPr wrap="square" lIns="73152" rIns="73152" tIns="73152" bIns="73152" anchor="t">
            <a:spAutoFit/>
          </a:bodyPr>
          <a:lstStyle/>
          <a:p>
            <a:pPr algn="l">
              <a:lnSpc>
                <a:spcPct val="104000"/>
              </a:lnSpc>
              <a:spcAft>
                <a:spcPts val="0"/>
              </a:spcAft>
            </a:pPr>
            <a:r>
              <a:rPr sz="3600" b="1" i="0">
                <a:solidFill>
                  <a:srgbClr val="FFFFFF"/>
                </a:solidFill>
                <a:latin typeface="Arial"/>
              </a:rPr>
              <a:t>실험 질문과 DUT 조건을 고정했다</a:t>
            </a:r>
          </a:p>
        </p:txBody>
      </p:sp>
      <p:sp>
        <p:nvSpPr>
          <p:cNvPr id="3" name="TextBox 2"/>
          <p:cNvSpPr txBox="1"/>
          <p:nvPr/>
        </p:nvSpPr>
        <p:spPr>
          <a:xfrm>
            <a:off x="548640" y="932688"/>
            <a:ext cx="10972800" cy="320040"/>
          </a:xfrm>
          <a:prstGeom prst="rect">
            <a:avLst/>
          </a:prstGeom>
          <a:noFill/>
        </p:spPr>
        <p:txBody>
          <a:bodyPr wrap="square" lIns="73152" rIns="73152" tIns="73152" bIns="73152" anchor="t">
            <a:spAutoFit/>
          </a:bodyPr>
          <a:lstStyle/>
          <a:p>
            <a:pPr algn="l">
              <a:lnSpc>
                <a:spcPct val="104000"/>
              </a:lnSpc>
              <a:spcAft>
                <a:spcPts val="0"/>
              </a:spcAft>
            </a:pPr>
            <a:r>
              <a:rPr sz="1800" b="0" i="0">
                <a:solidFill>
                  <a:srgbClr val="B8C5D4"/>
                </a:solidFill>
                <a:latin typeface="Arial"/>
              </a:rPr>
              <a:t>MC9 EDA validation은 ‘실제 scan 응답이 공격 입력으로 이어지는가’를 검증한다.</a:t>
            </a:r>
          </a:p>
        </p:txBody>
      </p:sp>
      <p:sp>
        <p:nvSpPr>
          <p:cNvPr id="4" name="TextBox 3"/>
          <p:cNvSpPr txBox="1"/>
          <p:nvPr/>
        </p:nvSpPr>
        <p:spPr>
          <a:xfrm>
            <a:off x="11356848" y="329184"/>
            <a:ext cx="347472" cy="256032"/>
          </a:xfrm>
          <a:prstGeom prst="rect">
            <a:avLst/>
          </a:prstGeom>
          <a:noFill/>
        </p:spPr>
        <p:txBody>
          <a:bodyPr wrap="square" lIns="73152" rIns="73152" tIns="73152" bIns="73152" anchor="t">
            <a:spAutoFit/>
          </a:bodyPr>
          <a:lstStyle/>
          <a:p>
            <a:pPr algn="r">
              <a:lnSpc>
                <a:spcPct val="104000"/>
              </a:lnSpc>
              <a:spcAft>
                <a:spcPts val="0"/>
              </a:spcAft>
            </a:pPr>
            <a:r>
              <a:rPr sz="1100" b="1" i="0">
                <a:solidFill>
                  <a:srgbClr val="B8C5D4"/>
                </a:solidFill>
                <a:latin typeface="Arial"/>
              </a:rPr>
              <a:t>01</a:t>
            </a:r>
          </a:p>
        </p:txBody>
      </p:sp>
      <p:sp>
        <p:nvSpPr>
          <p:cNvPr id="5" name="Rounded Rectangle 4"/>
          <p:cNvSpPr/>
          <p:nvPr/>
        </p:nvSpPr>
        <p:spPr>
          <a:xfrm>
            <a:off x="530352" y="1417320"/>
            <a:ext cx="11109960" cy="1051560"/>
          </a:xfrm>
          <a:prstGeom prst="roundRect">
            <a:avLst/>
          </a:prstGeom>
          <a:solidFill>
            <a:srgbClr val="1B304C"/>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581912"/>
            <a:ext cx="1078992" cy="292608"/>
          </a:xfrm>
          <a:prstGeom prst="rect">
            <a:avLst/>
          </a:prstGeom>
          <a:solidFill>
            <a:srgbClr val="009697"/>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595628"/>
            <a:ext cx="987551" cy="228600"/>
          </a:xfrm>
          <a:prstGeom prst="rect">
            <a:avLst/>
          </a:prstGeom>
          <a:noFill/>
        </p:spPr>
        <p:txBody>
          <a:bodyPr wrap="square" lIns="0" rIns="0" tIns="0" bIns="0" anchor="t">
            <a:spAutoFit/>
          </a:bodyPr>
          <a:lstStyle/>
          <a:p>
            <a:pPr algn="ctr">
              <a:lnSpc>
                <a:spcPct val="104000"/>
              </a:lnSpc>
              <a:spcAft>
                <a:spcPts val="0"/>
              </a:spcAft>
            </a:pPr>
            <a:r>
              <a:rPr sz="1100" b="1" i="0">
                <a:solidFill>
                  <a:srgbClr val="FFFFFF"/>
                </a:solidFill>
                <a:latin typeface="Arial"/>
              </a:rPr>
              <a:t>핵심 질문</a:t>
            </a:r>
          </a:p>
        </p:txBody>
      </p:sp>
      <p:sp>
        <p:nvSpPr>
          <p:cNvPr id="8" name="TextBox 7"/>
          <p:cNvSpPr txBox="1"/>
          <p:nvPr/>
        </p:nvSpPr>
        <p:spPr>
          <a:xfrm>
            <a:off x="1938528" y="1536192"/>
            <a:ext cx="9372600" cy="731520"/>
          </a:xfrm>
          <a:prstGeom prst="rect">
            <a:avLst/>
          </a:prstGeom>
          <a:noFill/>
        </p:spPr>
        <p:txBody>
          <a:bodyPr wrap="square" lIns="18288" rIns="18288" tIns="18288" bIns="18288" anchor="t">
            <a:spAutoFit/>
          </a:bodyPr>
          <a:lstStyle/>
          <a:p>
            <a:pPr algn="l">
              <a:lnSpc>
                <a:spcPct val="104000"/>
              </a:lnSpc>
              <a:spcAft>
                <a:spcPts val="0"/>
              </a:spcAft>
            </a:pPr>
            <a:r>
              <a:rPr sz="2000" b="1" i="0">
                <a:solidFill>
                  <a:srgbClr val="FFFFFF"/>
                </a:solidFill>
                <a:latin typeface="Arial"/>
              </a:rPr>
              <a:t>MC 이후의 1-bit FF 하나만 scan-visible해도, 공격자가 위치·FF 이름·MC_9 label을 모르는 상태에서 이를 찾아 key-recovery 입력으로 연결할 수 있는가?</a:t>
            </a:r>
          </a:p>
        </p:txBody>
      </p:sp>
      <p:sp>
        <p:nvSpPr>
          <p:cNvPr id="9" name="Rounded Rectangle 8"/>
          <p:cNvSpPr/>
          <p:nvPr/>
        </p:nvSpPr>
        <p:spPr>
          <a:xfrm>
            <a:off x="530352" y="2724912"/>
            <a:ext cx="5257800" cy="2331720"/>
          </a:xfrm>
          <a:prstGeom prst="roundRect">
            <a:avLst/>
          </a:prstGeom>
          <a:solidFill>
            <a:srgbClr val="F3F6FA"/>
          </a:solidFill>
          <a:ln w="10160">
            <a:solidFill>
              <a:srgbClr val="F3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926080"/>
            <a:ext cx="1234440" cy="292608"/>
          </a:xfrm>
          <a:prstGeom prst="rect">
            <a:avLst/>
          </a:prstGeom>
          <a:solidFill>
            <a:srgbClr val="EC842F"/>
          </a:solidFill>
          <a:ln w="10160">
            <a:solidFill>
              <a:srgbClr val="EC8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939796"/>
            <a:ext cx="1143000" cy="228600"/>
          </a:xfrm>
          <a:prstGeom prst="rect">
            <a:avLst/>
          </a:prstGeom>
          <a:noFill/>
        </p:spPr>
        <p:txBody>
          <a:bodyPr wrap="square" lIns="0" rIns="0" tIns="0" bIns="0" anchor="t">
            <a:spAutoFit/>
          </a:bodyPr>
          <a:lstStyle/>
          <a:p>
            <a:pPr algn="ctr">
              <a:lnSpc>
                <a:spcPct val="104000"/>
              </a:lnSpc>
              <a:spcAft>
                <a:spcPts val="0"/>
              </a:spcAft>
            </a:pPr>
            <a:r>
              <a:rPr sz="1100" b="1" i="0">
                <a:solidFill>
                  <a:srgbClr val="FFFFFF"/>
                </a:solidFill>
                <a:latin typeface="Arial"/>
              </a:rPr>
              <a:t>DUT / 구현</a:t>
            </a:r>
          </a:p>
        </p:txBody>
      </p:sp>
      <p:sp>
        <p:nvSpPr>
          <p:cNvPr id="12" name="TextBox 11"/>
          <p:cNvSpPr txBox="1"/>
          <p:nvPr/>
        </p:nvSpPr>
        <p:spPr>
          <a:xfrm>
            <a:off x="768096" y="3364992"/>
            <a:ext cx="4718304" cy="1426464"/>
          </a:xfrm>
          <a:prstGeom prst="rect">
            <a:avLst/>
          </a:prstGeom>
          <a:noFill/>
        </p:spPr>
        <p:txBody>
          <a:bodyPr wrap="square" lIns="18288" rIns="18288" tIns="18288" bIns="18288" anchor="t">
            <a:spAutoFit/>
          </a:bodyPr>
          <a:lstStyle/>
          <a:p>
            <a:pPr algn="l">
              <a:lnSpc>
                <a:spcPct val="104000"/>
              </a:lnSpc>
              <a:spcAft>
                <a:spcPts val="0"/>
              </a:spcAft>
            </a:pPr>
            <a:r>
              <a:rPr sz="1680" b="0" i="0">
                <a:solidFill>
                  <a:srgbClr val="192432"/>
                </a:solidFill>
                <a:latin typeface="Arial"/>
              </a:rPr>
              <a:t>• 10-round iterative AES-128
• STATE_REG → SB → SR → MC → MC_REG → ARK → STATE_REG
• MC_REG는 round 1~9에서 재사용되는 실제 sequential boundary
• 256-cell partial scan: target MC FF + state/round/control/data decoy
• DC synthesis → DFT insertion → VCS/Verdi FSDB → Z3 joint solver</a:t>
            </a:r>
          </a:p>
        </p:txBody>
      </p:sp>
      <p:sp>
        <p:nvSpPr>
          <p:cNvPr id="13" name="Rounded Rectangle 12"/>
          <p:cNvSpPr/>
          <p:nvPr/>
        </p:nvSpPr>
        <p:spPr>
          <a:xfrm>
            <a:off x="5989320" y="2724912"/>
            <a:ext cx="5650992" cy="2331720"/>
          </a:xfrm>
          <a:prstGeom prst="roundRect">
            <a:avLst/>
          </a:prstGeom>
          <a:solidFill>
            <a:srgbClr val="1B304C"/>
          </a:solidFill>
          <a:ln w="10160">
            <a:solidFill>
              <a:srgbClr val="1B3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2926080"/>
            <a:ext cx="2103120" cy="292608"/>
          </a:xfrm>
          <a:prstGeom prst="rect">
            <a:avLst/>
          </a:prstGeom>
          <a:solidFill>
            <a:srgbClr val="009697"/>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939796"/>
            <a:ext cx="2011679" cy="228600"/>
          </a:xfrm>
          <a:prstGeom prst="rect">
            <a:avLst/>
          </a:prstGeom>
          <a:noFill/>
        </p:spPr>
        <p:txBody>
          <a:bodyPr wrap="square" lIns="0" rIns="0" tIns="0" bIns="0" anchor="t">
            <a:spAutoFit/>
          </a:bodyPr>
          <a:lstStyle/>
          <a:p>
            <a:pPr algn="ctr">
              <a:lnSpc>
                <a:spcPct val="104000"/>
              </a:lnSpc>
              <a:spcAft>
                <a:spcPts val="0"/>
              </a:spcAft>
            </a:pPr>
            <a:r>
              <a:rPr sz="1100" b="1" i="0">
                <a:solidFill>
                  <a:srgbClr val="FFFFFF"/>
                </a:solidFill>
                <a:latin typeface="Arial"/>
              </a:rPr>
              <a:t>공격자에게 공개 / 비공개</a:t>
            </a:r>
          </a:p>
        </p:txBody>
      </p:sp>
      <p:sp>
        <p:nvSpPr>
          <p:cNvPr id="16" name="TextBox 15"/>
          <p:cNvSpPr txBox="1"/>
          <p:nvPr/>
        </p:nvSpPr>
        <p:spPr>
          <a:xfrm>
            <a:off x="6254496" y="3401568"/>
            <a:ext cx="640080" cy="274320"/>
          </a:xfrm>
          <a:prstGeom prst="rect">
            <a:avLst/>
          </a:prstGeom>
          <a:noFill/>
        </p:spPr>
        <p:txBody>
          <a:bodyPr wrap="square" lIns="0" rIns="0" tIns="0" bIns="0" anchor="t">
            <a:spAutoFit/>
          </a:bodyPr>
          <a:lstStyle/>
          <a:p>
            <a:pPr algn="l">
              <a:lnSpc>
                <a:spcPct val="104000"/>
              </a:lnSpc>
              <a:spcAft>
                <a:spcPts val="0"/>
              </a:spcAft>
            </a:pPr>
            <a:r>
              <a:rPr sz="1700" b="1" i="0">
                <a:solidFill>
                  <a:srgbClr val="009697"/>
                </a:solidFill>
                <a:latin typeface="Arial"/>
              </a:rPr>
              <a:t>공개</a:t>
            </a:r>
          </a:p>
        </p:txBody>
      </p:sp>
      <p:sp>
        <p:nvSpPr>
          <p:cNvPr id="17" name="TextBox 16"/>
          <p:cNvSpPr txBox="1"/>
          <p:nvPr/>
        </p:nvSpPr>
        <p:spPr>
          <a:xfrm>
            <a:off x="6903720" y="3401568"/>
            <a:ext cx="4343400" cy="384048"/>
          </a:xfrm>
          <a:prstGeom prst="rect">
            <a:avLst/>
          </a:prstGeom>
          <a:noFill/>
        </p:spPr>
        <p:txBody>
          <a:bodyPr wrap="square" lIns="0" rIns="0" tIns="0" bIns="0" anchor="t">
            <a:spAutoFit/>
          </a:bodyPr>
          <a:lstStyle/>
          <a:p>
            <a:pPr algn="l">
              <a:lnSpc>
                <a:spcPct val="104000"/>
              </a:lnSpc>
              <a:spcAft>
                <a:spcPts val="0"/>
              </a:spcAft>
            </a:pPr>
            <a:r>
              <a:rPr sz="1650" b="0" i="0">
                <a:solidFill>
                  <a:srgbClr val="FFFFFF"/>
                </a:solidFill>
                <a:latin typeface="Arial"/>
              </a:rPr>
              <a:t>chosen plaintext · capture schedule · anonymous full scan-out</a:t>
            </a:r>
          </a:p>
        </p:txBody>
      </p:sp>
      <p:sp>
        <p:nvSpPr>
          <p:cNvPr id="18" name="TextBox 17"/>
          <p:cNvSpPr txBox="1"/>
          <p:nvPr/>
        </p:nvSpPr>
        <p:spPr>
          <a:xfrm>
            <a:off x="6254496" y="3986784"/>
            <a:ext cx="868680" cy="274320"/>
          </a:xfrm>
          <a:prstGeom prst="rect">
            <a:avLst/>
          </a:prstGeom>
          <a:noFill/>
        </p:spPr>
        <p:txBody>
          <a:bodyPr wrap="square" lIns="0" rIns="0" tIns="0" bIns="0" anchor="t">
            <a:spAutoFit/>
          </a:bodyPr>
          <a:lstStyle/>
          <a:p>
            <a:pPr algn="l">
              <a:lnSpc>
                <a:spcPct val="104000"/>
              </a:lnSpc>
              <a:spcAft>
                <a:spcPts val="0"/>
              </a:spcAft>
            </a:pPr>
            <a:r>
              <a:rPr sz="1700" b="1" i="0">
                <a:solidFill>
                  <a:srgbClr val="EC842F"/>
                </a:solidFill>
                <a:latin typeface="Arial"/>
              </a:rPr>
              <a:t>비공개</a:t>
            </a:r>
          </a:p>
        </p:txBody>
      </p:sp>
      <p:sp>
        <p:nvSpPr>
          <p:cNvPr id="19" name="TextBox 18"/>
          <p:cNvSpPr txBox="1"/>
          <p:nvPr/>
        </p:nvSpPr>
        <p:spPr>
          <a:xfrm>
            <a:off x="7150608" y="3986784"/>
            <a:ext cx="4078224" cy="548640"/>
          </a:xfrm>
          <a:prstGeom prst="rect">
            <a:avLst/>
          </a:prstGeom>
          <a:noFill/>
        </p:spPr>
        <p:txBody>
          <a:bodyPr wrap="square" lIns="0" rIns="0" tIns="0" bIns="0" anchor="t">
            <a:spAutoFit/>
          </a:bodyPr>
          <a:lstStyle/>
          <a:p>
            <a:pPr algn="l">
              <a:lnSpc>
                <a:spcPct val="104000"/>
              </a:lnSpc>
              <a:spcAft>
                <a:spcPts val="0"/>
              </a:spcAft>
            </a:pPr>
            <a:r>
              <a:rPr sz="1650" b="0" i="0">
                <a:solidFill>
                  <a:srgbClr val="FFFFFF"/>
                </a:solidFill>
                <a:latin typeface="Arial"/>
              </a:rPr>
              <a:t>K0 · scan stitching map · FF instance name · physical location · MC_9</a:t>
            </a:r>
          </a:p>
        </p:txBody>
      </p:sp>
      <p:sp>
        <p:nvSpPr>
          <p:cNvPr id="20" name="TextBox 19"/>
          <p:cNvSpPr txBox="1"/>
          <p:nvPr/>
        </p:nvSpPr>
        <p:spPr>
          <a:xfrm>
            <a:off x="6254496" y="4590288"/>
            <a:ext cx="4983480" cy="320040"/>
          </a:xfrm>
          <a:prstGeom prst="rect">
            <a:avLst/>
          </a:prstGeom>
          <a:noFill/>
        </p:spPr>
        <p:txBody>
          <a:bodyPr wrap="square" lIns="0" rIns="0" tIns="0" bIns="0" anchor="t">
            <a:spAutoFit/>
          </a:bodyPr>
          <a:lstStyle/>
          <a:p>
            <a:pPr algn="l">
              <a:lnSpc>
                <a:spcPct val="104000"/>
              </a:lnSpc>
              <a:spcAft>
                <a:spcPts val="0"/>
              </a:spcAft>
            </a:pPr>
            <a:r>
              <a:rPr sz="1450" b="0" i="1">
                <a:solidFill>
                  <a:srgbClr val="C4D1DE"/>
                </a:solidFill>
                <a:latin typeface="Arial"/>
              </a:rPr>
              <a:t>목적은 scan prevalence 추정이 아니라, 대표적인 MC scan-visible 조건의 공격 가능성과 EDA composability를 검증하는 것이다.</a:t>
            </a:r>
          </a:p>
        </p:txBody>
      </p:sp>
      <p:sp>
        <p:nvSpPr>
          <p:cNvPr id="21" name="Rectangle 20"/>
          <p:cNvSpPr/>
          <p:nvPr/>
        </p:nvSpPr>
        <p:spPr>
          <a:xfrm>
            <a:off x="530352" y="5376672"/>
            <a:ext cx="11109960" cy="822960"/>
          </a:xfrm>
          <a:prstGeom prst="rect">
            <a:avLst/>
          </a:prstGeom>
          <a:solidFill>
            <a:srgbClr val="009697"/>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559552"/>
            <a:ext cx="1481328" cy="256032"/>
          </a:xfrm>
          <a:prstGeom prst="rect">
            <a:avLst/>
          </a:prstGeom>
          <a:noFill/>
        </p:spPr>
        <p:txBody>
          <a:bodyPr wrap="square" lIns="0" rIns="0" tIns="0" bIns="0" anchor="t">
            <a:spAutoFit/>
          </a:bodyPr>
          <a:lstStyle/>
          <a:p>
            <a:pPr algn="l">
              <a:lnSpc>
                <a:spcPct val="104000"/>
              </a:lnSpc>
              <a:spcAft>
                <a:spcPts val="0"/>
              </a:spcAft>
            </a:pPr>
            <a:r>
              <a:rPr sz="1700" b="1" i="0">
                <a:solidFill>
                  <a:srgbClr val="111F34"/>
                </a:solidFill>
                <a:latin typeface="Arial"/>
              </a:rPr>
              <a:t>결국 확인할 것</a:t>
            </a:r>
          </a:p>
        </p:txBody>
      </p:sp>
      <p:sp>
        <p:nvSpPr>
          <p:cNvPr id="23" name="TextBox 22"/>
          <p:cNvSpPr txBox="1"/>
          <p:nvPr/>
        </p:nvSpPr>
        <p:spPr>
          <a:xfrm>
            <a:off x="2286000" y="5522976"/>
            <a:ext cx="9006840" cy="329184"/>
          </a:xfrm>
          <a:prstGeom prst="rect">
            <a:avLst/>
          </a:prstGeom>
          <a:noFill/>
        </p:spPr>
        <p:txBody>
          <a:bodyPr wrap="square" lIns="0" rIns="0" tIns="0" bIns="0" anchor="t">
            <a:spAutoFit/>
          </a:bodyPr>
          <a:lstStyle/>
          <a:p>
            <a:pPr algn="l">
              <a:lnSpc>
                <a:spcPct val="104000"/>
              </a:lnSpc>
              <a:spcAft>
                <a:spcPts val="0"/>
              </a:spcAft>
            </a:pPr>
            <a:r>
              <a:rPr sz="1900" b="1" i="0">
                <a:solidFill>
                  <a:srgbClr val="111F34"/>
                </a:solidFill>
                <a:latin typeface="Arial"/>
              </a:rPr>
              <a:t>anonymous slot → MC function hypothesis → 실제 gate-level transcript → adaptive full-key uniqueness</a:t>
            </a:r>
          </a:p>
        </p:txBody>
      </p:sp>
      <p:sp>
        <p:nvSpPr>
          <p:cNvPr id="24" name="TextBox 23"/>
          <p:cNvSpPr txBox="1"/>
          <p:nvPr/>
        </p:nvSpPr>
        <p:spPr>
          <a:xfrm>
            <a:off x="548640" y="6583680"/>
            <a:ext cx="11064240" cy="164592"/>
          </a:xfrm>
          <a:prstGeom prst="rect">
            <a:avLst/>
          </a:prstGeom>
          <a:noFill/>
        </p:spPr>
        <p:txBody>
          <a:bodyPr wrap="square" lIns="0" rIns="0" tIns="0" bIns="0" anchor="t">
            <a:spAutoFit/>
          </a:bodyPr>
          <a:lstStyle/>
          <a:p>
            <a:pPr algn="l">
              <a:lnSpc>
                <a:spcPct val="104000"/>
              </a:lnSpc>
              <a:spcAft>
                <a:spcPts val="0"/>
              </a:spcAft>
            </a:pPr>
            <a:r>
              <a:rPr sz="950" b="0" i="0">
                <a:solidFill>
                  <a:srgbClr val="AEBCCC"/>
                </a:solidFill>
                <a:latin typeface="Arial"/>
              </a:rPr>
              <a:t>Controlled representative case: late1_MC_9__seed2 · target identity is evaluator-only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338328"/>
            <a:ext cx="11109960" cy="530352"/>
          </a:xfrm>
          <a:prstGeom prst="rect">
            <a:avLst/>
          </a:prstGeom>
          <a:noFill/>
        </p:spPr>
        <p:txBody>
          <a:bodyPr wrap="square" lIns="73152" rIns="73152" tIns="73152" bIns="73152" anchor="t">
            <a:spAutoFit/>
          </a:bodyPr>
          <a:lstStyle/>
          <a:p>
            <a:pPr algn="l">
              <a:lnSpc>
                <a:spcPct val="104000"/>
              </a:lnSpc>
              <a:spcAft>
                <a:spcPts val="0"/>
              </a:spcAft>
            </a:pPr>
            <a:r>
              <a:rPr sz="3600" b="1" i="0">
                <a:solidFill>
                  <a:srgbClr val="111F34"/>
                </a:solidFill>
                <a:latin typeface="Arial"/>
              </a:rPr>
              <a:t>anonymous slot을 MC function으로 연결했다</a:t>
            </a:r>
          </a:p>
        </p:txBody>
      </p:sp>
      <p:sp>
        <p:nvSpPr>
          <p:cNvPr id="3" name="TextBox 2"/>
          <p:cNvSpPr txBox="1"/>
          <p:nvPr/>
        </p:nvSpPr>
        <p:spPr>
          <a:xfrm>
            <a:off x="548640" y="932688"/>
            <a:ext cx="10972800" cy="320040"/>
          </a:xfrm>
          <a:prstGeom prst="rect">
            <a:avLst/>
          </a:prstGeom>
          <a:noFill/>
        </p:spPr>
        <p:txBody>
          <a:bodyPr wrap="square" lIns="73152" rIns="73152" tIns="73152" bIns="73152" anchor="t">
            <a:spAutoFit/>
          </a:bodyPr>
          <a:lstStyle/>
          <a:p>
            <a:pPr algn="l">
              <a:lnSpc>
                <a:spcPct val="104000"/>
              </a:lnSpc>
              <a:spcAft>
                <a:spcPts val="0"/>
              </a:spcAft>
            </a:pPr>
            <a:r>
              <a:rPr sz="1800" b="0" i="0">
                <a:solidFill>
                  <a:srgbClr val="5C6C7E"/>
                </a:solidFill>
                <a:latin typeface="Arial"/>
              </a:rPr>
              <a:t>Phase 0에서 찾은 물리적 slot을 Phase 1·2의 solver 입력으로 그대로 전달한다.</a:t>
            </a:r>
          </a:p>
        </p:txBody>
      </p:sp>
      <p:sp>
        <p:nvSpPr>
          <p:cNvPr id="4" name="TextBox 3"/>
          <p:cNvSpPr txBox="1"/>
          <p:nvPr/>
        </p:nvSpPr>
        <p:spPr>
          <a:xfrm>
            <a:off x="11356848" y="329184"/>
            <a:ext cx="347472" cy="256032"/>
          </a:xfrm>
          <a:prstGeom prst="rect">
            <a:avLst/>
          </a:prstGeom>
          <a:noFill/>
        </p:spPr>
        <p:txBody>
          <a:bodyPr wrap="square" lIns="73152" rIns="73152" tIns="73152" bIns="73152" anchor="t">
            <a:spAutoFit/>
          </a:bodyPr>
          <a:lstStyle/>
          <a:p>
            <a:pPr algn="r">
              <a:lnSpc>
                <a:spcPct val="104000"/>
              </a:lnSpc>
              <a:spcAft>
                <a:spcPts val="0"/>
              </a:spcAft>
            </a:pPr>
            <a:r>
              <a:rPr sz="1100" b="1" i="0">
                <a:solidFill>
                  <a:srgbClr val="5C6C7E"/>
                </a:solidFill>
                <a:latin typeface="Arial"/>
              </a:rPr>
              <a:t>02</a:t>
            </a:r>
          </a:p>
        </p:txBody>
      </p:sp>
      <p:sp>
        <p:nvSpPr>
          <p:cNvPr id="5" name="Rounded Rectangle 4"/>
          <p:cNvSpPr/>
          <p:nvPr/>
        </p:nvSpPr>
        <p:spPr>
          <a:xfrm>
            <a:off x="530352" y="1444752"/>
            <a:ext cx="5504688" cy="1856231"/>
          </a:xfrm>
          <a:prstGeom prst="roundRect">
            <a:avLst/>
          </a:prstGeom>
          <a:solidFill>
            <a:srgbClr val="E5EDF8"/>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609344"/>
            <a:ext cx="502920" cy="502920"/>
          </a:xfrm>
          <a:prstGeom prst="roundRect">
            <a:avLst/>
          </a:prstGeom>
          <a:solidFill>
            <a:srgbClr val="009697"/>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691640"/>
            <a:ext cx="502920" cy="228600"/>
          </a:xfrm>
          <a:prstGeom prst="rect">
            <a:avLst/>
          </a:prstGeom>
          <a:noFill/>
        </p:spPr>
        <p:txBody>
          <a:bodyPr wrap="square" lIns="0" rIns="0" tIns="0" bIns="0" anchor="t">
            <a:spAutoFit/>
          </a:bodyPr>
          <a:lstStyle/>
          <a:p>
            <a:pPr algn="ctr">
              <a:lnSpc>
                <a:spcPct val="104000"/>
              </a:lnSpc>
              <a:spcAft>
                <a:spcPts val="0"/>
              </a:spcAft>
            </a:pPr>
            <a:r>
              <a:rPr sz="1600" b="1" i="0">
                <a:solidFill>
                  <a:srgbClr val="FFFFFF"/>
                </a:solidFill>
                <a:latin typeface="Arial"/>
              </a:rPr>
              <a:t>01</a:t>
            </a:r>
          </a:p>
        </p:txBody>
      </p:sp>
      <p:sp>
        <p:nvSpPr>
          <p:cNvPr id="8" name="TextBox 7"/>
          <p:cNvSpPr txBox="1"/>
          <p:nvPr/>
        </p:nvSpPr>
        <p:spPr>
          <a:xfrm>
            <a:off x="1325880" y="1609344"/>
            <a:ext cx="4544568" cy="347472"/>
          </a:xfrm>
          <a:prstGeom prst="rect">
            <a:avLst/>
          </a:prstGeom>
          <a:noFill/>
        </p:spPr>
        <p:txBody>
          <a:bodyPr wrap="square" lIns="0" rIns="0" tIns="0" bIns="0" anchor="t">
            <a:spAutoFit/>
          </a:bodyPr>
          <a:lstStyle/>
          <a:p>
            <a:pPr algn="l">
              <a:lnSpc>
                <a:spcPct val="104000"/>
              </a:lnSpc>
              <a:spcAft>
                <a:spcPts val="0"/>
              </a:spcAft>
            </a:pPr>
            <a:r>
              <a:rPr sz="1800" b="1" i="0">
                <a:solidFill>
                  <a:srgbClr val="111F34"/>
                </a:solidFill>
                <a:latin typeface="Arial"/>
              </a:rPr>
              <a:t>Phase 0 · Anonymous discovery</a:t>
            </a:r>
          </a:p>
        </p:txBody>
      </p:sp>
      <p:sp>
        <p:nvSpPr>
          <p:cNvPr id="9" name="TextBox 8"/>
          <p:cNvSpPr txBox="1"/>
          <p:nvPr/>
        </p:nvSpPr>
        <p:spPr>
          <a:xfrm>
            <a:off x="713232" y="2194560"/>
            <a:ext cx="5138927" cy="941831"/>
          </a:xfrm>
          <a:prstGeom prst="rect">
            <a:avLst/>
          </a:prstGeom>
          <a:noFill/>
        </p:spPr>
        <p:txBody>
          <a:bodyPr wrap="square" lIns="18288" rIns="18288" tIns="18288" bIns="18288" anchor="t">
            <a:spAutoFit/>
          </a:bodyPr>
          <a:lstStyle/>
          <a:p>
            <a:pPr algn="l">
              <a:lnSpc>
                <a:spcPct val="104000"/>
              </a:lnSpc>
              <a:spcAft>
                <a:spcPts val="0"/>
              </a:spcAft>
            </a:pPr>
            <a:r>
              <a:rPr sz="1550" b="0" i="0">
                <a:solidFill>
                  <a:srgbClr val="192432"/>
                </a:solidFill>
                <a:latin typeface="Arial"/>
              </a:rPr>
              <a:t>65 queries × 3 schedules로 전체 256-bit scan vector를 수집한다.
101 AES-dependent → 55 pre-round → 1 MC-aware 후보로 축소한다.
최종: slot 255, first-active = MC capture, support = {0, 5, 10, 15}, column = C0.</a:t>
            </a:r>
          </a:p>
        </p:txBody>
      </p:sp>
      <p:sp>
        <p:nvSpPr>
          <p:cNvPr id="10" name="Rounded Rectangle 9"/>
          <p:cNvSpPr/>
          <p:nvPr/>
        </p:nvSpPr>
        <p:spPr>
          <a:xfrm>
            <a:off x="6163056" y="1444752"/>
            <a:ext cx="5486400" cy="1856231"/>
          </a:xfrm>
          <a:prstGeom prst="roundRect">
            <a:avLst/>
          </a:prstGeom>
          <a:solidFill>
            <a:srgbClr val="E0F4F3"/>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27648" y="1609344"/>
            <a:ext cx="502920" cy="502920"/>
          </a:xfrm>
          <a:prstGeom prst="roundRect">
            <a:avLst/>
          </a:prstGeom>
          <a:solidFill>
            <a:srgbClr val="009697"/>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1691640"/>
            <a:ext cx="502920" cy="228600"/>
          </a:xfrm>
          <a:prstGeom prst="rect">
            <a:avLst/>
          </a:prstGeom>
          <a:noFill/>
        </p:spPr>
        <p:txBody>
          <a:bodyPr wrap="square" lIns="0" rIns="0" tIns="0" bIns="0" anchor="t">
            <a:spAutoFit/>
          </a:bodyPr>
          <a:lstStyle/>
          <a:p>
            <a:pPr algn="ctr">
              <a:lnSpc>
                <a:spcPct val="104000"/>
              </a:lnSpc>
              <a:spcAft>
                <a:spcPts val="0"/>
              </a:spcAft>
            </a:pPr>
            <a:r>
              <a:rPr sz="1600" b="1" i="0">
                <a:solidFill>
                  <a:srgbClr val="FFFFFF"/>
                </a:solidFill>
                <a:latin typeface="Arial"/>
              </a:rPr>
              <a:t>02</a:t>
            </a:r>
          </a:p>
        </p:txBody>
      </p:sp>
      <p:sp>
        <p:nvSpPr>
          <p:cNvPr id="13" name="TextBox 12"/>
          <p:cNvSpPr txBox="1"/>
          <p:nvPr/>
        </p:nvSpPr>
        <p:spPr>
          <a:xfrm>
            <a:off x="6958584" y="1609344"/>
            <a:ext cx="4526280" cy="347472"/>
          </a:xfrm>
          <a:prstGeom prst="rect">
            <a:avLst/>
          </a:prstGeom>
          <a:noFill/>
        </p:spPr>
        <p:txBody>
          <a:bodyPr wrap="square" lIns="0" rIns="0" tIns="0" bIns="0" anchor="t">
            <a:spAutoFit/>
          </a:bodyPr>
          <a:lstStyle/>
          <a:p>
            <a:pPr algn="l">
              <a:lnSpc>
                <a:spcPct val="104000"/>
              </a:lnSpc>
              <a:spcAft>
                <a:spcPts val="0"/>
              </a:spcAft>
            </a:pPr>
            <a:r>
              <a:rPr sz="1800" b="1" i="0">
                <a:solidFill>
                  <a:srgbClr val="111F34"/>
                </a:solidFill>
                <a:latin typeface="Arial"/>
              </a:rPr>
              <a:t>Phase 0.5 · Function attribution</a:t>
            </a:r>
          </a:p>
        </p:txBody>
      </p:sp>
      <p:sp>
        <p:nvSpPr>
          <p:cNvPr id="14" name="TextBox 13"/>
          <p:cNvSpPr txBox="1"/>
          <p:nvPr/>
        </p:nvSpPr>
        <p:spPr>
          <a:xfrm>
            <a:off x="6345936" y="2194560"/>
            <a:ext cx="5120640" cy="941831"/>
          </a:xfrm>
          <a:prstGeom prst="rect">
            <a:avLst/>
          </a:prstGeom>
          <a:noFill/>
        </p:spPr>
        <p:txBody>
          <a:bodyPr wrap="square" lIns="18288" rIns="18288" tIns="18288" bIns="18288" anchor="t">
            <a:spAutoFit/>
          </a:bodyPr>
          <a:lstStyle/>
          <a:p>
            <a:pPr algn="l">
              <a:lnSpc>
                <a:spcPct val="104000"/>
              </a:lnSpc>
              <a:spcAft>
                <a:spcPts val="0"/>
              </a:spcAft>
            </a:pPr>
            <a:r>
              <a:rPr sz="1550" b="0" i="0">
                <a:solidFill>
                  <a:srgbClr val="192432"/>
                </a:solidFill>
                <a:latin typeface="Arial"/>
              </a:rPr>
              <a:t>C0에 가능한 MC output bit/function 32개를 hypothesis로 만든다.
Q128 gate-level transcript와 일관성을 검사해 불가능한 branch를 제거한다. h09만 생존; UNKNOWN/timeout = 0/0.</a:t>
            </a:r>
          </a:p>
        </p:txBody>
      </p:sp>
      <p:sp>
        <p:nvSpPr>
          <p:cNvPr id="15" name="Rounded Rectangle 14"/>
          <p:cNvSpPr/>
          <p:nvPr/>
        </p:nvSpPr>
        <p:spPr>
          <a:xfrm>
            <a:off x="530352" y="3584448"/>
            <a:ext cx="5504688" cy="1856231"/>
          </a:xfrm>
          <a:prstGeom prst="roundRect">
            <a:avLst/>
          </a:prstGeom>
          <a:solidFill>
            <a:srgbClr val="FDEFE1"/>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94944" y="3749039"/>
            <a:ext cx="502920" cy="502920"/>
          </a:xfrm>
          <a:prstGeom prst="roundRect">
            <a:avLst/>
          </a:prstGeom>
          <a:solidFill>
            <a:srgbClr val="EC842F"/>
          </a:solidFill>
          <a:ln w="10160">
            <a:solidFill>
              <a:srgbClr val="EC8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3831335"/>
            <a:ext cx="502920" cy="228600"/>
          </a:xfrm>
          <a:prstGeom prst="rect">
            <a:avLst/>
          </a:prstGeom>
          <a:noFill/>
        </p:spPr>
        <p:txBody>
          <a:bodyPr wrap="square" lIns="0" rIns="0" tIns="0" bIns="0" anchor="t">
            <a:spAutoFit/>
          </a:bodyPr>
          <a:lstStyle/>
          <a:p>
            <a:pPr algn="ctr">
              <a:lnSpc>
                <a:spcPct val="104000"/>
              </a:lnSpc>
              <a:spcAft>
                <a:spcPts val="0"/>
              </a:spcAft>
            </a:pPr>
            <a:r>
              <a:rPr sz="1600" b="1" i="0">
                <a:solidFill>
                  <a:srgbClr val="FFFFFF"/>
                </a:solidFill>
                <a:latin typeface="Arial"/>
              </a:rPr>
              <a:t>03</a:t>
            </a:r>
          </a:p>
        </p:txBody>
      </p:sp>
      <p:sp>
        <p:nvSpPr>
          <p:cNvPr id="18" name="TextBox 17"/>
          <p:cNvSpPr txBox="1"/>
          <p:nvPr/>
        </p:nvSpPr>
        <p:spPr>
          <a:xfrm>
            <a:off x="1325880" y="3749039"/>
            <a:ext cx="4544568" cy="347472"/>
          </a:xfrm>
          <a:prstGeom prst="rect">
            <a:avLst/>
          </a:prstGeom>
          <a:noFill/>
        </p:spPr>
        <p:txBody>
          <a:bodyPr wrap="square" lIns="0" rIns="0" tIns="0" bIns="0" anchor="t">
            <a:spAutoFit/>
          </a:bodyPr>
          <a:lstStyle/>
          <a:p>
            <a:pPr algn="l">
              <a:lnSpc>
                <a:spcPct val="104000"/>
              </a:lnSpc>
              <a:spcAft>
                <a:spcPts val="0"/>
              </a:spcAft>
            </a:pPr>
            <a:r>
              <a:rPr sz="1800" b="1" i="0">
                <a:solidFill>
                  <a:srgbClr val="111F34"/>
                </a:solidFill>
                <a:latin typeface="Arial"/>
              </a:rPr>
              <a:t>Phase 1 · Fixed-query solve</a:t>
            </a:r>
          </a:p>
        </p:txBody>
      </p:sp>
      <p:sp>
        <p:nvSpPr>
          <p:cNvPr id="19" name="TextBox 18"/>
          <p:cNvSpPr txBox="1"/>
          <p:nvPr/>
        </p:nvSpPr>
        <p:spPr>
          <a:xfrm>
            <a:off x="713232" y="4334256"/>
            <a:ext cx="5138927" cy="941831"/>
          </a:xfrm>
          <a:prstGeom prst="rect">
            <a:avLst/>
          </a:prstGeom>
          <a:noFill/>
        </p:spPr>
        <p:txBody>
          <a:bodyPr wrap="square" lIns="18288" rIns="18288" tIns="18288" bIns="18288" anchor="t">
            <a:spAutoFit/>
          </a:bodyPr>
          <a:lstStyle/>
          <a:p>
            <a:pPr algn="l">
              <a:lnSpc>
                <a:spcPct val="104000"/>
              </a:lnSpc>
              <a:spcAft>
                <a:spcPts val="0"/>
              </a:spcAft>
            </a:pPr>
            <a:r>
              <a:rPr sz="1550" b="0" i="0">
                <a:solidFill>
                  <a:srgbClr val="192432"/>
                </a:solidFill>
                <a:latin typeface="Arial"/>
              </a:rPr>
              <a:t>동일한 physical slot 255를 round 1·2에서 재사용하고, differential leakage를 C_Q(K)에 넣는다.
첫 Solve = SAT, 두 번째 Solve = SAT: 아직 alternative key가 남아 ambiguity로 판정한다.</a:t>
            </a:r>
          </a:p>
        </p:txBody>
      </p:sp>
      <p:sp>
        <p:nvSpPr>
          <p:cNvPr id="20" name="Rounded Rectangle 19"/>
          <p:cNvSpPr/>
          <p:nvPr/>
        </p:nvSpPr>
        <p:spPr>
          <a:xfrm>
            <a:off x="6163056" y="3584448"/>
            <a:ext cx="5486400" cy="1856231"/>
          </a:xfrm>
          <a:prstGeom prst="roundRect">
            <a:avLst/>
          </a:prstGeom>
          <a:solidFill>
            <a:srgbClr val="E2F5EB"/>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7648" y="3749039"/>
            <a:ext cx="502920" cy="502920"/>
          </a:xfrm>
          <a:prstGeom prst="roundRect">
            <a:avLst/>
          </a:prstGeom>
          <a:solidFill>
            <a:srgbClr val="258B5D"/>
          </a:solidFill>
          <a:ln w="10160">
            <a:solidFill>
              <a:srgbClr val="2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3831335"/>
            <a:ext cx="502920" cy="228600"/>
          </a:xfrm>
          <a:prstGeom prst="rect">
            <a:avLst/>
          </a:prstGeom>
          <a:noFill/>
        </p:spPr>
        <p:txBody>
          <a:bodyPr wrap="square" lIns="0" rIns="0" tIns="0" bIns="0" anchor="t">
            <a:spAutoFit/>
          </a:bodyPr>
          <a:lstStyle/>
          <a:p>
            <a:pPr algn="ctr">
              <a:lnSpc>
                <a:spcPct val="104000"/>
              </a:lnSpc>
              <a:spcAft>
                <a:spcPts val="0"/>
              </a:spcAft>
            </a:pPr>
            <a:r>
              <a:rPr sz="1600" b="1" i="0">
                <a:solidFill>
                  <a:srgbClr val="FFFFFF"/>
                </a:solidFill>
                <a:latin typeface="Arial"/>
              </a:rPr>
              <a:t>04</a:t>
            </a:r>
          </a:p>
        </p:txBody>
      </p:sp>
      <p:sp>
        <p:nvSpPr>
          <p:cNvPr id="23" name="TextBox 22"/>
          <p:cNvSpPr txBox="1"/>
          <p:nvPr/>
        </p:nvSpPr>
        <p:spPr>
          <a:xfrm>
            <a:off x="6958584" y="3749039"/>
            <a:ext cx="4526280" cy="347472"/>
          </a:xfrm>
          <a:prstGeom prst="rect">
            <a:avLst/>
          </a:prstGeom>
          <a:noFill/>
        </p:spPr>
        <p:txBody>
          <a:bodyPr wrap="square" lIns="0" rIns="0" tIns="0" bIns="0" anchor="t">
            <a:spAutoFit/>
          </a:bodyPr>
          <a:lstStyle/>
          <a:p>
            <a:pPr algn="l">
              <a:lnSpc>
                <a:spcPct val="104000"/>
              </a:lnSpc>
              <a:spcAft>
                <a:spcPts val="0"/>
              </a:spcAft>
            </a:pPr>
            <a:r>
              <a:rPr sz="1800" b="1" i="0">
                <a:solidFill>
                  <a:srgbClr val="111F34"/>
                </a:solidFill>
                <a:latin typeface="Arial"/>
              </a:rPr>
              <a:t>Phase 2 · Adaptive recovery</a:t>
            </a:r>
          </a:p>
        </p:txBody>
      </p:sp>
      <p:sp>
        <p:nvSpPr>
          <p:cNvPr id="24" name="TextBox 23"/>
          <p:cNvSpPr txBox="1"/>
          <p:nvPr/>
        </p:nvSpPr>
        <p:spPr>
          <a:xfrm>
            <a:off x="6345936" y="4334256"/>
            <a:ext cx="5120640" cy="941831"/>
          </a:xfrm>
          <a:prstGeom prst="rect">
            <a:avLst/>
          </a:prstGeom>
          <a:noFill/>
        </p:spPr>
        <p:txBody>
          <a:bodyPr wrap="square" lIns="18288" rIns="18288" tIns="18288" bIns="18288" anchor="t">
            <a:spAutoFit/>
          </a:bodyPr>
          <a:lstStyle/>
          <a:p>
            <a:pPr algn="l">
              <a:lnSpc>
                <a:spcPct val="104000"/>
              </a:lnSpc>
              <a:spcAft>
                <a:spcPts val="0"/>
              </a:spcAft>
            </a:pPr>
            <a:r>
              <a:rPr sz="1550" b="0" i="0">
                <a:solidFill>
                  <a:srgbClr val="192432"/>
                </a:solidFill>
                <a:latin typeface="Arial"/>
              </a:rPr>
              <a:t>남은 Ka, Kb를 구분하는 separator plaintext를 합성하고 실제 VCS DUT에 재질의한다.
새 leakage를 누적해 전체 surviving hypothesis를 다시 검사한다. Q131에서 SAT→UNSAT.</a:t>
            </a:r>
          </a:p>
        </p:txBody>
      </p:sp>
      <p:sp>
        <p:nvSpPr>
          <p:cNvPr id="25" name="Rectangle 24"/>
          <p:cNvSpPr/>
          <p:nvPr/>
        </p:nvSpPr>
        <p:spPr>
          <a:xfrm>
            <a:off x="530352" y="5724144"/>
            <a:ext cx="11109960" cy="658368"/>
          </a:xfrm>
          <a:prstGeom prst="rect">
            <a:avLst/>
          </a:prstGeom>
          <a:solidFill>
            <a:srgbClr val="111F34"/>
          </a:solidFill>
          <a:ln w="10160">
            <a:solidFill>
              <a:srgbClr val="11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907024"/>
            <a:ext cx="1024128" cy="228600"/>
          </a:xfrm>
          <a:prstGeom prst="rect">
            <a:avLst/>
          </a:prstGeom>
          <a:noFill/>
        </p:spPr>
        <p:txBody>
          <a:bodyPr wrap="square" lIns="0" rIns="0" tIns="0" bIns="0" anchor="t">
            <a:spAutoFit/>
          </a:bodyPr>
          <a:lstStyle/>
          <a:p>
            <a:pPr algn="l">
              <a:lnSpc>
                <a:spcPct val="104000"/>
              </a:lnSpc>
              <a:spcAft>
                <a:spcPts val="0"/>
              </a:spcAft>
            </a:pPr>
            <a:r>
              <a:rPr sz="1600" b="1" i="0">
                <a:solidFill>
                  <a:srgbClr val="009697"/>
                </a:solidFill>
                <a:latin typeface="Arial"/>
              </a:rPr>
              <a:t>판정 규칙</a:t>
            </a:r>
          </a:p>
        </p:txBody>
      </p:sp>
      <p:sp>
        <p:nvSpPr>
          <p:cNvPr id="27" name="TextBox 26"/>
          <p:cNvSpPr txBox="1"/>
          <p:nvPr/>
        </p:nvSpPr>
        <p:spPr>
          <a:xfrm>
            <a:off x="1865376" y="5843016"/>
            <a:ext cx="9400032" cy="320040"/>
          </a:xfrm>
          <a:prstGeom prst="rect">
            <a:avLst/>
          </a:prstGeom>
          <a:noFill/>
        </p:spPr>
        <p:txBody>
          <a:bodyPr wrap="square" lIns="0" rIns="0" tIns="0" bIns="0" anchor="t">
            <a:spAutoFit/>
          </a:bodyPr>
          <a:lstStyle/>
          <a:p>
            <a:pPr algn="l">
              <a:lnSpc>
                <a:spcPct val="104000"/>
              </a:lnSpc>
              <a:spcAft>
                <a:spcPts val="0"/>
              </a:spcAft>
            </a:pPr>
            <a:r>
              <a:rPr sz="1700" b="1" i="0">
                <a:solidFill>
                  <a:srgbClr val="FFFFFF"/>
                </a:solidFill>
                <a:latin typeface="Arial"/>
              </a:rPr>
              <a:t>C_Q(K) ∧ K ≠ K̂  |  SAT = ambiguity → separator 생성·DUT 재질의  |  UNSAT = full-key recovery 인정</a:t>
            </a:r>
          </a:p>
        </p:txBody>
      </p:sp>
      <p:sp>
        <p:nvSpPr>
          <p:cNvPr id="28" name="TextBox 27"/>
          <p:cNvSpPr txBox="1"/>
          <p:nvPr/>
        </p:nvSpPr>
        <p:spPr>
          <a:xfrm>
            <a:off x="548640" y="6583680"/>
            <a:ext cx="11064240" cy="164592"/>
          </a:xfrm>
          <a:prstGeom prst="rect">
            <a:avLst/>
          </a:prstGeom>
          <a:noFill/>
        </p:spPr>
        <p:txBody>
          <a:bodyPr wrap="square" lIns="0" rIns="0" tIns="0" bIns="0" anchor="t">
            <a:spAutoFit/>
          </a:bodyPr>
          <a:lstStyle/>
          <a:p>
            <a:pPr algn="l">
              <a:lnSpc>
                <a:spcPct val="104000"/>
              </a:lnSpc>
              <a:spcAft>
                <a:spcPts val="0"/>
              </a:spcAft>
            </a:pPr>
            <a:r>
              <a:rPr sz="950" b="0" i="0">
                <a:solidFill>
                  <a:srgbClr val="5C6C7E"/>
                </a:solidFill>
                <a:latin typeface="Arial"/>
              </a:rPr>
              <a:t>Phase 0 discovery와 Phase 1·2 solver가 서로 다른 semantic label을 직접 공유하지 않고, slot·transcript·hypothesis로 연결됨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338328"/>
            <a:ext cx="11109960" cy="530352"/>
          </a:xfrm>
          <a:prstGeom prst="rect">
            <a:avLst/>
          </a:prstGeom>
          <a:noFill/>
        </p:spPr>
        <p:txBody>
          <a:bodyPr wrap="square" lIns="73152" rIns="73152" tIns="73152" bIns="73152" anchor="t">
            <a:spAutoFit/>
          </a:bodyPr>
          <a:lstStyle/>
          <a:p>
            <a:pPr algn="l">
              <a:lnSpc>
                <a:spcPct val="104000"/>
              </a:lnSpc>
              <a:spcAft>
                <a:spcPts val="0"/>
              </a:spcAft>
            </a:pPr>
            <a:r>
              <a:rPr sz="3600" b="1" i="0">
                <a:solidFill>
                  <a:srgbClr val="111F34"/>
                </a:solidFill>
                <a:latin typeface="Arial"/>
              </a:rPr>
              <a:t>Q131에서 adaptive key uniqueness를 확인했다</a:t>
            </a:r>
          </a:p>
        </p:txBody>
      </p:sp>
      <p:sp>
        <p:nvSpPr>
          <p:cNvPr id="3" name="TextBox 2"/>
          <p:cNvSpPr txBox="1"/>
          <p:nvPr/>
        </p:nvSpPr>
        <p:spPr>
          <a:xfrm>
            <a:off x="548640" y="932688"/>
            <a:ext cx="10972800" cy="320040"/>
          </a:xfrm>
          <a:prstGeom prst="rect">
            <a:avLst/>
          </a:prstGeom>
          <a:noFill/>
        </p:spPr>
        <p:txBody>
          <a:bodyPr wrap="square" lIns="73152" rIns="73152" tIns="73152" bIns="73152" anchor="t">
            <a:spAutoFit/>
          </a:bodyPr>
          <a:lstStyle/>
          <a:p>
            <a:pPr algn="l">
              <a:lnSpc>
                <a:spcPct val="104000"/>
              </a:lnSpc>
              <a:spcAft>
                <a:spcPts val="0"/>
              </a:spcAft>
            </a:pPr>
            <a:r>
              <a:rPr sz="1800" b="0" i="0">
                <a:solidFill>
                  <a:srgbClr val="5C6C7E"/>
                </a:solidFill>
                <a:latin typeface="Arial"/>
              </a:rPr>
              <a:t>첫 후보가 맞는지만 본 것이 아니라, surviving hypothesis 전체에 대한 alternative-key 부재를 확인했다.</a:t>
            </a:r>
          </a:p>
        </p:txBody>
      </p:sp>
      <p:sp>
        <p:nvSpPr>
          <p:cNvPr id="4" name="TextBox 3"/>
          <p:cNvSpPr txBox="1"/>
          <p:nvPr/>
        </p:nvSpPr>
        <p:spPr>
          <a:xfrm>
            <a:off x="11356848" y="329184"/>
            <a:ext cx="347472" cy="256032"/>
          </a:xfrm>
          <a:prstGeom prst="rect">
            <a:avLst/>
          </a:prstGeom>
          <a:noFill/>
        </p:spPr>
        <p:txBody>
          <a:bodyPr wrap="square" lIns="73152" rIns="73152" tIns="73152" bIns="73152" anchor="t">
            <a:spAutoFit/>
          </a:bodyPr>
          <a:lstStyle/>
          <a:p>
            <a:pPr algn="r">
              <a:lnSpc>
                <a:spcPct val="104000"/>
              </a:lnSpc>
              <a:spcAft>
                <a:spcPts val="0"/>
              </a:spcAft>
            </a:pPr>
            <a:r>
              <a:rPr sz="1100" b="1" i="0">
                <a:solidFill>
                  <a:srgbClr val="5C6C7E"/>
                </a:solidFill>
                <a:latin typeface="Arial"/>
              </a:rPr>
              <a:t>03</a:t>
            </a:r>
          </a:p>
        </p:txBody>
      </p:sp>
      <p:sp>
        <p:nvSpPr>
          <p:cNvPr id="5" name="Rounded Rectangle 4"/>
          <p:cNvSpPr/>
          <p:nvPr/>
        </p:nvSpPr>
        <p:spPr>
          <a:xfrm>
            <a:off x="530352" y="1426464"/>
            <a:ext cx="6931152" cy="3456432"/>
          </a:xfrm>
          <a:prstGeom prst="round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0352" y="1426464"/>
            <a:ext cx="1481328" cy="475488"/>
          </a:xfrm>
          <a:prstGeom prst="rect">
            <a:avLst/>
          </a:prstGeom>
          <a:solidFill>
            <a:srgbClr val="111F34"/>
          </a:solidFill>
          <a:ln w="10160">
            <a:solidFill>
              <a:srgbClr val="11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1536192"/>
            <a:ext cx="1389888" cy="219456"/>
          </a:xfrm>
          <a:prstGeom prst="rect">
            <a:avLst/>
          </a:prstGeom>
          <a:noFill/>
        </p:spPr>
        <p:txBody>
          <a:bodyPr wrap="square" lIns="0" rIns="0" tIns="0" bIns="0" anchor="t">
            <a:spAutoFit/>
          </a:bodyPr>
          <a:lstStyle/>
          <a:p>
            <a:pPr algn="ctr">
              <a:lnSpc>
                <a:spcPct val="104000"/>
              </a:lnSpc>
              <a:spcAft>
                <a:spcPts val="0"/>
              </a:spcAft>
            </a:pPr>
            <a:r>
              <a:rPr sz="1450" b="1" i="0">
                <a:solidFill>
                  <a:srgbClr val="FFFFFF"/>
                </a:solidFill>
                <a:latin typeface="Arial"/>
              </a:rPr>
              <a:t>단계</a:t>
            </a:r>
          </a:p>
        </p:txBody>
      </p:sp>
      <p:sp>
        <p:nvSpPr>
          <p:cNvPr id="8" name="Rectangle 7"/>
          <p:cNvSpPr/>
          <p:nvPr/>
        </p:nvSpPr>
        <p:spPr>
          <a:xfrm>
            <a:off x="2011680" y="1426464"/>
            <a:ext cx="987552" cy="475488"/>
          </a:xfrm>
          <a:prstGeom prst="rect">
            <a:avLst/>
          </a:prstGeom>
          <a:solidFill>
            <a:srgbClr val="111F34"/>
          </a:solidFill>
          <a:ln w="10160">
            <a:solidFill>
              <a:srgbClr val="11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1536192"/>
            <a:ext cx="896112" cy="219456"/>
          </a:xfrm>
          <a:prstGeom prst="rect">
            <a:avLst/>
          </a:prstGeom>
          <a:noFill/>
        </p:spPr>
        <p:txBody>
          <a:bodyPr wrap="square" lIns="0" rIns="0" tIns="0" bIns="0" anchor="t">
            <a:spAutoFit/>
          </a:bodyPr>
          <a:lstStyle/>
          <a:p>
            <a:pPr algn="ctr">
              <a:lnSpc>
                <a:spcPct val="104000"/>
              </a:lnSpc>
              <a:spcAft>
                <a:spcPts val="0"/>
              </a:spcAft>
            </a:pPr>
            <a:r>
              <a:rPr sz="1450" b="1" i="0">
                <a:solidFill>
                  <a:srgbClr val="FFFFFF"/>
                </a:solidFill>
                <a:latin typeface="Arial"/>
              </a:rPr>
              <a:t>누적 Q</a:t>
            </a:r>
          </a:p>
        </p:txBody>
      </p:sp>
      <p:sp>
        <p:nvSpPr>
          <p:cNvPr id="10" name="Rectangle 9"/>
          <p:cNvSpPr/>
          <p:nvPr/>
        </p:nvSpPr>
        <p:spPr>
          <a:xfrm>
            <a:off x="2999232" y="1426464"/>
            <a:ext cx="969264" cy="475488"/>
          </a:xfrm>
          <a:prstGeom prst="rect">
            <a:avLst/>
          </a:prstGeom>
          <a:solidFill>
            <a:srgbClr val="111F34"/>
          </a:solidFill>
          <a:ln w="10160">
            <a:solidFill>
              <a:srgbClr val="11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44952" y="1536192"/>
            <a:ext cx="877824" cy="219456"/>
          </a:xfrm>
          <a:prstGeom prst="rect">
            <a:avLst/>
          </a:prstGeom>
          <a:noFill/>
        </p:spPr>
        <p:txBody>
          <a:bodyPr wrap="square" lIns="0" rIns="0" tIns="0" bIns="0" anchor="t">
            <a:spAutoFit/>
          </a:bodyPr>
          <a:lstStyle/>
          <a:p>
            <a:pPr algn="ctr">
              <a:lnSpc>
                <a:spcPct val="104000"/>
              </a:lnSpc>
              <a:spcAft>
                <a:spcPts val="0"/>
              </a:spcAft>
            </a:pPr>
            <a:r>
              <a:rPr sz="1450" b="1" i="0">
                <a:solidFill>
                  <a:srgbClr val="FFFFFF"/>
                </a:solidFill>
                <a:latin typeface="Arial"/>
              </a:rPr>
              <a:t>Solve 1</a:t>
            </a:r>
          </a:p>
        </p:txBody>
      </p:sp>
      <p:sp>
        <p:nvSpPr>
          <p:cNvPr id="12" name="Rectangle 11"/>
          <p:cNvSpPr/>
          <p:nvPr/>
        </p:nvSpPr>
        <p:spPr>
          <a:xfrm>
            <a:off x="3968496" y="1426464"/>
            <a:ext cx="1069848" cy="475488"/>
          </a:xfrm>
          <a:prstGeom prst="rect">
            <a:avLst/>
          </a:prstGeom>
          <a:solidFill>
            <a:srgbClr val="111F34"/>
          </a:solidFill>
          <a:ln w="10160">
            <a:solidFill>
              <a:srgbClr val="11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14215" y="1536192"/>
            <a:ext cx="978407" cy="219456"/>
          </a:xfrm>
          <a:prstGeom prst="rect">
            <a:avLst/>
          </a:prstGeom>
          <a:noFill/>
        </p:spPr>
        <p:txBody>
          <a:bodyPr wrap="square" lIns="0" rIns="0" tIns="0" bIns="0" anchor="t">
            <a:spAutoFit/>
          </a:bodyPr>
          <a:lstStyle/>
          <a:p>
            <a:pPr algn="ctr">
              <a:lnSpc>
                <a:spcPct val="104000"/>
              </a:lnSpc>
              <a:spcAft>
                <a:spcPts val="0"/>
              </a:spcAft>
            </a:pPr>
            <a:r>
              <a:rPr sz="1450" b="1" i="0">
                <a:solidFill>
                  <a:srgbClr val="FFFFFF"/>
                </a:solidFill>
                <a:latin typeface="Arial"/>
              </a:rPr>
              <a:t>Solve 2</a:t>
            </a:r>
          </a:p>
        </p:txBody>
      </p:sp>
      <p:sp>
        <p:nvSpPr>
          <p:cNvPr id="14" name="Rectangle 13"/>
          <p:cNvSpPr/>
          <p:nvPr/>
        </p:nvSpPr>
        <p:spPr>
          <a:xfrm>
            <a:off x="5038344" y="1426464"/>
            <a:ext cx="2048256" cy="475488"/>
          </a:xfrm>
          <a:prstGeom prst="rect">
            <a:avLst/>
          </a:prstGeom>
          <a:solidFill>
            <a:srgbClr val="009697"/>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4064" y="1536192"/>
            <a:ext cx="1956816" cy="219456"/>
          </a:xfrm>
          <a:prstGeom prst="rect">
            <a:avLst/>
          </a:prstGeom>
          <a:noFill/>
        </p:spPr>
        <p:txBody>
          <a:bodyPr wrap="square" lIns="0" rIns="0" tIns="0" bIns="0" anchor="t">
            <a:spAutoFit/>
          </a:bodyPr>
          <a:lstStyle/>
          <a:p>
            <a:pPr algn="ctr">
              <a:lnSpc>
                <a:spcPct val="104000"/>
              </a:lnSpc>
              <a:spcAft>
                <a:spcPts val="0"/>
              </a:spcAft>
            </a:pPr>
            <a:r>
              <a:rPr sz="1450" b="1" i="0">
                <a:solidFill>
                  <a:srgbClr val="FFFFFF"/>
                </a:solidFill>
                <a:latin typeface="Arial"/>
              </a:rPr>
              <a:t>해석</a:t>
            </a:r>
          </a:p>
        </p:txBody>
      </p:sp>
      <p:sp>
        <p:nvSpPr>
          <p:cNvPr id="16" name="Rectangle 15"/>
          <p:cNvSpPr/>
          <p:nvPr/>
        </p:nvSpPr>
        <p:spPr>
          <a:xfrm>
            <a:off x="530352" y="1901952"/>
            <a:ext cx="1481328"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5" y="2121408"/>
            <a:ext cx="1371600" cy="274320"/>
          </a:xfrm>
          <a:prstGeom prst="rect">
            <a:avLst/>
          </a:prstGeom>
          <a:noFill/>
        </p:spPr>
        <p:txBody>
          <a:bodyPr wrap="square" lIns="0" rIns="0" tIns="0" bIns="0" anchor="t">
            <a:spAutoFit/>
          </a:bodyPr>
          <a:lstStyle/>
          <a:p>
            <a:pPr algn="l">
              <a:lnSpc>
                <a:spcPct val="104000"/>
              </a:lnSpc>
              <a:spcAft>
                <a:spcPts val="0"/>
              </a:spcAft>
            </a:pPr>
            <a:r>
              <a:rPr sz="1520" b="1" i="0">
                <a:solidFill>
                  <a:srgbClr val="192432"/>
                </a:solidFill>
                <a:latin typeface="Arial"/>
              </a:rPr>
              <a:t>Q128 fixed</a:t>
            </a:r>
          </a:p>
        </p:txBody>
      </p:sp>
      <p:sp>
        <p:nvSpPr>
          <p:cNvPr id="18" name="Rectangle 17"/>
          <p:cNvSpPr/>
          <p:nvPr/>
        </p:nvSpPr>
        <p:spPr>
          <a:xfrm>
            <a:off x="2011680" y="1901952"/>
            <a:ext cx="987552"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66544" y="2121408"/>
            <a:ext cx="877824" cy="274320"/>
          </a:xfrm>
          <a:prstGeom prst="rect">
            <a:avLst/>
          </a:prstGeom>
          <a:noFill/>
        </p:spPr>
        <p:txBody>
          <a:bodyPr wrap="square" lIns="0" rIns="0" tIns="0" bIns="0" anchor="t">
            <a:spAutoFit/>
          </a:bodyPr>
          <a:lstStyle/>
          <a:p>
            <a:pPr algn="ctr">
              <a:lnSpc>
                <a:spcPct val="104000"/>
              </a:lnSpc>
              <a:spcAft>
                <a:spcPts val="0"/>
              </a:spcAft>
            </a:pPr>
            <a:r>
              <a:rPr sz="1520" b="0" i="0">
                <a:solidFill>
                  <a:srgbClr val="192432"/>
                </a:solidFill>
                <a:latin typeface="Arial"/>
              </a:rPr>
              <a:t>129</a:t>
            </a:r>
          </a:p>
        </p:txBody>
      </p:sp>
      <p:sp>
        <p:nvSpPr>
          <p:cNvPr id="20" name="Rectangle 19"/>
          <p:cNvSpPr/>
          <p:nvPr/>
        </p:nvSpPr>
        <p:spPr>
          <a:xfrm>
            <a:off x="2999232" y="1901952"/>
            <a:ext cx="969264"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121408"/>
            <a:ext cx="859536" cy="274320"/>
          </a:xfrm>
          <a:prstGeom prst="rect">
            <a:avLst/>
          </a:prstGeom>
          <a:noFill/>
        </p:spPr>
        <p:txBody>
          <a:bodyPr wrap="square" lIns="0" rIns="0" tIns="0" bIns="0" anchor="t">
            <a:spAutoFit/>
          </a:bodyPr>
          <a:lstStyle/>
          <a:p>
            <a:pPr algn="ctr">
              <a:lnSpc>
                <a:spcPct val="104000"/>
              </a:lnSpc>
              <a:spcAft>
                <a:spcPts val="0"/>
              </a:spcAft>
            </a:pPr>
            <a:r>
              <a:rPr sz="1520" b="0" i="0">
                <a:solidFill>
                  <a:srgbClr val="192432"/>
                </a:solidFill>
                <a:latin typeface="Arial"/>
              </a:rPr>
              <a:t>SAT</a:t>
            </a:r>
          </a:p>
        </p:txBody>
      </p:sp>
      <p:sp>
        <p:nvSpPr>
          <p:cNvPr id="22" name="Rectangle 21"/>
          <p:cNvSpPr/>
          <p:nvPr/>
        </p:nvSpPr>
        <p:spPr>
          <a:xfrm>
            <a:off x="3968496" y="1901952"/>
            <a:ext cx="1069848"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59" y="2121408"/>
            <a:ext cx="960119" cy="274320"/>
          </a:xfrm>
          <a:prstGeom prst="rect">
            <a:avLst/>
          </a:prstGeom>
          <a:noFill/>
        </p:spPr>
        <p:txBody>
          <a:bodyPr wrap="square" lIns="0" rIns="0" tIns="0" bIns="0" anchor="t">
            <a:spAutoFit/>
          </a:bodyPr>
          <a:lstStyle/>
          <a:p>
            <a:pPr algn="ctr">
              <a:lnSpc>
                <a:spcPct val="104000"/>
              </a:lnSpc>
              <a:spcAft>
                <a:spcPts val="0"/>
              </a:spcAft>
            </a:pPr>
            <a:r>
              <a:rPr sz="1520" b="1" i="0">
                <a:solidFill>
                  <a:srgbClr val="192432"/>
                </a:solidFill>
                <a:latin typeface="Arial"/>
              </a:rPr>
              <a:t>SAT</a:t>
            </a:r>
          </a:p>
        </p:txBody>
      </p:sp>
      <p:sp>
        <p:nvSpPr>
          <p:cNvPr id="24" name="Rectangle 23"/>
          <p:cNvSpPr/>
          <p:nvPr/>
        </p:nvSpPr>
        <p:spPr>
          <a:xfrm>
            <a:off x="5038344" y="1901952"/>
            <a:ext cx="2048256"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93207" y="2121408"/>
            <a:ext cx="1938528" cy="274320"/>
          </a:xfrm>
          <a:prstGeom prst="rect">
            <a:avLst/>
          </a:prstGeom>
          <a:noFill/>
        </p:spPr>
        <p:txBody>
          <a:bodyPr wrap="square" lIns="0" rIns="0" tIns="0" bIns="0" anchor="t">
            <a:spAutoFit/>
          </a:bodyPr>
          <a:lstStyle/>
          <a:p>
            <a:pPr algn="ctr">
              <a:lnSpc>
                <a:spcPct val="104000"/>
              </a:lnSpc>
              <a:spcAft>
                <a:spcPts val="0"/>
              </a:spcAft>
            </a:pPr>
            <a:r>
              <a:rPr sz="1520" b="1" i="0">
                <a:solidFill>
                  <a:srgbClr val="192432"/>
                </a:solidFill>
                <a:latin typeface="Arial"/>
              </a:rPr>
              <a:t>ambiguity</a:t>
            </a:r>
          </a:p>
        </p:txBody>
      </p:sp>
      <p:sp>
        <p:nvSpPr>
          <p:cNvPr id="26" name="Rectangle 25"/>
          <p:cNvSpPr/>
          <p:nvPr/>
        </p:nvSpPr>
        <p:spPr>
          <a:xfrm>
            <a:off x="530352" y="2642616"/>
            <a:ext cx="1481328" cy="740664"/>
          </a:xfrm>
          <a:prstGeom prst="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5" y="2862072"/>
            <a:ext cx="1371600" cy="274320"/>
          </a:xfrm>
          <a:prstGeom prst="rect">
            <a:avLst/>
          </a:prstGeom>
          <a:noFill/>
        </p:spPr>
        <p:txBody>
          <a:bodyPr wrap="square" lIns="0" rIns="0" tIns="0" bIns="0" anchor="t">
            <a:spAutoFit/>
          </a:bodyPr>
          <a:lstStyle/>
          <a:p>
            <a:pPr algn="l">
              <a:lnSpc>
                <a:spcPct val="104000"/>
              </a:lnSpc>
              <a:spcAft>
                <a:spcPts val="0"/>
              </a:spcAft>
            </a:pPr>
            <a:r>
              <a:rPr sz="1520" b="1" i="0">
                <a:solidFill>
                  <a:srgbClr val="192432"/>
                </a:solidFill>
                <a:latin typeface="Arial"/>
              </a:rPr>
              <a:t>Q129 adaptive</a:t>
            </a:r>
          </a:p>
        </p:txBody>
      </p:sp>
      <p:sp>
        <p:nvSpPr>
          <p:cNvPr id="28" name="Rectangle 27"/>
          <p:cNvSpPr/>
          <p:nvPr/>
        </p:nvSpPr>
        <p:spPr>
          <a:xfrm>
            <a:off x="2011680" y="2642616"/>
            <a:ext cx="987552" cy="740664"/>
          </a:xfrm>
          <a:prstGeom prst="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66544" y="2862072"/>
            <a:ext cx="877824" cy="274320"/>
          </a:xfrm>
          <a:prstGeom prst="rect">
            <a:avLst/>
          </a:prstGeom>
          <a:noFill/>
        </p:spPr>
        <p:txBody>
          <a:bodyPr wrap="square" lIns="0" rIns="0" tIns="0" bIns="0" anchor="t">
            <a:spAutoFit/>
          </a:bodyPr>
          <a:lstStyle/>
          <a:p>
            <a:pPr algn="ctr">
              <a:lnSpc>
                <a:spcPct val="104000"/>
              </a:lnSpc>
              <a:spcAft>
                <a:spcPts val="0"/>
              </a:spcAft>
            </a:pPr>
            <a:r>
              <a:rPr sz="1520" b="0" i="0">
                <a:solidFill>
                  <a:srgbClr val="192432"/>
                </a:solidFill>
                <a:latin typeface="Arial"/>
              </a:rPr>
              <a:t>130</a:t>
            </a:r>
          </a:p>
        </p:txBody>
      </p:sp>
      <p:sp>
        <p:nvSpPr>
          <p:cNvPr id="30" name="Rectangle 29"/>
          <p:cNvSpPr/>
          <p:nvPr/>
        </p:nvSpPr>
        <p:spPr>
          <a:xfrm>
            <a:off x="2999232" y="2642616"/>
            <a:ext cx="969264" cy="740664"/>
          </a:xfrm>
          <a:prstGeom prst="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54096" y="2862072"/>
            <a:ext cx="859536" cy="274320"/>
          </a:xfrm>
          <a:prstGeom prst="rect">
            <a:avLst/>
          </a:prstGeom>
          <a:noFill/>
        </p:spPr>
        <p:txBody>
          <a:bodyPr wrap="square" lIns="0" rIns="0" tIns="0" bIns="0" anchor="t">
            <a:spAutoFit/>
          </a:bodyPr>
          <a:lstStyle/>
          <a:p>
            <a:pPr algn="ctr">
              <a:lnSpc>
                <a:spcPct val="104000"/>
              </a:lnSpc>
              <a:spcAft>
                <a:spcPts val="0"/>
              </a:spcAft>
            </a:pPr>
            <a:r>
              <a:rPr sz="1520" b="0" i="0">
                <a:solidFill>
                  <a:srgbClr val="192432"/>
                </a:solidFill>
                <a:latin typeface="Arial"/>
              </a:rPr>
              <a:t>SAT</a:t>
            </a:r>
          </a:p>
        </p:txBody>
      </p:sp>
      <p:sp>
        <p:nvSpPr>
          <p:cNvPr id="32" name="Rectangle 31"/>
          <p:cNvSpPr/>
          <p:nvPr/>
        </p:nvSpPr>
        <p:spPr>
          <a:xfrm>
            <a:off x="3968496" y="2642616"/>
            <a:ext cx="1069848" cy="740664"/>
          </a:xfrm>
          <a:prstGeom prst="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23359" y="2862072"/>
            <a:ext cx="960119" cy="274320"/>
          </a:xfrm>
          <a:prstGeom prst="rect">
            <a:avLst/>
          </a:prstGeom>
          <a:noFill/>
        </p:spPr>
        <p:txBody>
          <a:bodyPr wrap="square" lIns="0" rIns="0" tIns="0" bIns="0" anchor="t">
            <a:spAutoFit/>
          </a:bodyPr>
          <a:lstStyle/>
          <a:p>
            <a:pPr algn="ctr">
              <a:lnSpc>
                <a:spcPct val="104000"/>
              </a:lnSpc>
              <a:spcAft>
                <a:spcPts val="0"/>
              </a:spcAft>
            </a:pPr>
            <a:r>
              <a:rPr sz="1520" b="1" i="0">
                <a:solidFill>
                  <a:srgbClr val="192432"/>
                </a:solidFill>
                <a:latin typeface="Arial"/>
              </a:rPr>
              <a:t>SAT</a:t>
            </a:r>
          </a:p>
        </p:txBody>
      </p:sp>
      <p:sp>
        <p:nvSpPr>
          <p:cNvPr id="34" name="Rectangle 33"/>
          <p:cNvSpPr/>
          <p:nvPr/>
        </p:nvSpPr>
        <p:spPr>
          <a:xfrm>
            <a:off x="5038344" y="2642616"/>
            <a:ext cx="2048256" cy="740664"/>
          </a:xfrm>
          <a:prstGeom prst="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93207" y="2862072"/>
            <a:ext cx="1938528" cy="274320"/>
          </a:xfrm>
          <a:prstGeom prst="rect">
            <a:avLst/>
          </a:prstGeom>
          <a:noFill/>
        </p:spPr>
        <p:txBody>
          <a:bodyPr wrap="square" lIns="0" rIns="0" tIns="0" bIns="0" anchor="t">
            <a:spAutoFit/>
          </a:bodyPr>
          <a:lstStyle/>
          <a:p>
            <a:pPr algn="ctr">
              <a:lnSpc>
                <a:spcPct val="104000"/>
              </a:lnSpc>
              <a:spcAft>
                <a:spcPts val="0"/>
              </a:spcAft>
            </a:pPr>
            <a:r>
              <a:rPr sz="1520" b="1" i="0">
                <a:solidFill>
                  <a:srgbClr val="192432"/>
                </a:solidFill>
                <a:latin typeface="Arial"/>
              </a:rPr>
              <a:t>ambiguity</a:t>
            </a:r>
          </a:p>
        </p:txBody>
      </p:sp>
      <p:sp>
        <p:nvSpPr>
          <p:cNvPr id="36" name="Rectangle 35"/>
          <p:cNvSpPr/>
          <p:nvPr/>
        </p:nvSpPr>
        <p:spPr>
          <a:xfrm>
            <a:off x="530352" y="3383280"/>
            <a:ext cx="1481328"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5" y="3602736"/>
            <a:ext cx="1371600" cy="274320"/>
          </a:xfrm>
          <a:prstGeom prst="rect">
            <a:avLst/>
          </a:prstGeom>
          <a:noFill/>
        </p:spPr>
        <p:txBody>
          <a:bodyPr wrap="square" lIns="0" rIns="0" tIns="0" bIns="0" anchor="t">
            <a:spAutoFit/>
          </a:bodyPr>
          <a:lstStyle/>
          <a:p>
            <a:pPr algn="l">
              <a:lnSpc>
                <a:spcPct val="104000"/>
              </a:lnSpc>
              <a:spcAft>
                <a:spcPts val="0"/>
              </a:spcAft>
            </a:pPr>
            <a:r>
              <a:rPr sz="1520" b="1" i="0">
                <a:solidFill>
                  <a:srgbClr val="192432"/>
                </a:solidFill>
                <a:latin typeface="Arial"/>
              </a:rPr>
              <a:t>Q130 adaptive</a:t>
            </a:r>
          </a:p>
        </p:txBody>
      </p:sp>
      <p:sp>
        <p:nvSpPr>
          <p:cNvPr id="38" name="Rectangle 37"/>
          <p:cNvSpPr/>
          <p:nvPr/>
        </p:nvSpPr>
        <p:spPr>
          <a:xfrm>
            <a:off x="2011680" y="3383280"/>
            <a:ext cx="987552"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66544" y="3602736"/>
            <a:ext cx="877824" cy="274320"/>
          </a:xfrm>
          <a:prstGeom prst="rect">
            <a:avLst/>
          </a:prstGeom>
          <a:noFill/>
        </p:spPr>
        <p:txBody>
          <a:bodyPr wrap="square" lIns="0" rIns="0" tIns="0" bIns="0" anchor="t">
            <a:spAutoFit/>
          </a:bodyPr>
          <a:lstStyle/>
          <a:p>
            <a:pPr algn="ctr">
              <a:lnSpc>
                <a:spcPct val="104000"/>
              </a:lnSpc>
              <a:spcAft>
                <a:spcPts val="0"/>
              </a:spcAft>
            </a:pPr>
            <a:r>
              <a:rPr sz="1520" b="0" i="0">
                <a:solidFill>
                  <a:srgbClr val="192432"/>
                </a:solidFill>
                <a:latin typeface="Arial"/>
              </a:rPr>
              <a:t>130</a:t>
            </a:r>
          </a:p>
        </p:txBody>
      </p:sp>
      <p:sp>
        <p:nvSpPr>
          <p:cNvPr id="40" name="Rectangle 39"/>
          <p:cNvSpPr/>
          <p:nvPr/>
        </p:nvSpPr>
        <p:spPr>
          <a:xfrm>
            <a:off x="2999232" y="3383280"/>
            <a:ext cx="969264"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54096" y="3602736"/>
            <a:ext cx="859536" cy="274320"/>
          </a:xfrm>
          <a:prstGeom prst="rect">
            <a:avLst/>
          </a:prstGeom>
          <a:noFill/>
        </p:spPr>
        <p:txBody>
          <a:bodyPr wrap="square" lIns="0" rIns="0" tIns="0" bIns="0" anchor="t">
            <a:spAutoFit/>
          </a:bodyPr>
          <a:lstStyle/>
          <a:p>
            <a:pPr algn="ctr">
              <a:lnSpc>
                <a:spcPct val="104000"/>
              </a:lnSpc>
              <a:spcAft>
                <a:spcPts val="0"/>
              </a:spcAft>
            </a:pPr>
            <a:r>
              <a:rPr sz="1520" b="0" i="0">
                <a:solidFill>
                  <a:srgbClr val="192432"/>
                </a:solidFill>
                <a:latin typeface="Arial"/>
              </a:rPr>
              <a:t>SAT</a:t>
            </a:r>
          </a:p>
        </p:txBody>
      </p:sp>
      <p:sp>
        <p:nvSpPr>
          <p:cNvPr id="42" name="Rectangle 41"/>
          <p:cNvSpPr/>
          <p:nvPr/>
        </p:nvSpPr>
        <p:spPr>
          <a:xfrm>
            <a:off x="3968496" y="3383280"/>
            <a:ext cx="1069848"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59" y="3602736"/>
            <a:ext cx="960119" cy="274320"/>
          </a:xfrm>
          <a:prstGeom prst="rect">
            <a:avLst/>
          </a:prstGeom>
          <a:noFill/>
        </p:spPr>
        <p:txBody>
          <a:bodyPr wrap="square" lIns="0" rIns="0" tIns="0" bIns="0" anchor="t">
            <a:spAutoFit/>
          </a:bodyPr>
          <a:lstStyle/>
          <a:p>
            <a:pPr algn="ctr">
              <a:lnSpc>
                <a:spcPct val="104000"/>
              </a:lnSpc>
              <a:spcAft>
                <a:spcPts val="0"/>
              </a:spcAft>
            </a:pPr>
            <a:r>
              <a:rPr sz="1520" b="1" i="0">
                <a:solidFill>
                  <a:srgbClr val="192432"/>
                </a:solidFill>
                <a:latin typeface="Arial"/>
              </a:rPr>
              <a:t>SAT</a:t>
            </a:r>
          </a:p>
        </p:txBody>
      </p:sp>
      <p:sp>
        <p:nvSpPr>
          <p:cNvPr id="44" name="Rectangle 43"/>
          <p:cNvSpPr/>
          <p:nvPr/>
        </p:nvSpPr>
        <p:spPr>
          <a:xfrm>
            <a:off x="5038344" y="3383280"/>
            <a:ext cx="2048256" cy="740664"/>
          </a:xfrm>
          <a:prstGeom prst="rect">
            <a:avLst/>
          </a:prstGeom>
          <a:solidFill>
            <a:srgbClr val="F1F5F9"/>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93207" y="3602736"/>
            <a:ext cx="1938528" cy="274320"/>
          </a:xfrm>
          <a:prstGeom prst="rect">
            <a:avLst/>
          </a:prstGeom>
          <a:noFill/>
        </p:spPr>
        <p:txBody>
          <a:bodyPr wrap="square" lIns="0" rIns="0" tIns="0" bIns="0" anchor="t">
            <a:spAutoFit/>
          </a:bodyPr>
          <a:lstStyle/>
          <a:p>
            <a:pPr algn="ctr">
              <a:lnSpc>
                <a:spcPct val="104000"/>
              </a:lnSpc>
              <a:spcAft>
                <a:spcPts val="0"/>
              </a:spcAft>
            </a:pPr>
            <a:r>
              <a:rPr sz="1520" b="1" i="0">
                <a:solidFill>
                  <a:srgbClr val="192432"/>
                </a:solidFill>
                <a:latin typeface="Arial"/>
              </a:rPr>
              <a:t>ambiguity</a:t>
            </a:r>
          </a:p>
        </p:txBody>
      </p:sp>
      <p:sp>
        <p:nvSpPr>
          <p:cNvPr id="46" name="Rectangle 45"/>
          <p:cNvSpPr/>
          <p:nvPr/>
        </p:nvSpPr>
        <p:spPr>
          <a:xfrm>
            <a:off x="530352" y="4123944"/>
            <a:ext cx="1481328" cy="740664"/>
          </a:xfrm>
          <a:prstGeom prst="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5215" y="4343400"/>
            <a:ext cx="1371600" cy="274320"/>
          </a:xfrm>
          <a:prstGeom prst="rect">
            <a:avLst/>
          </a:prstGeom>
          <a:noFill/>
        </p:spPr>
        <p:txBody>
          <a:bodyPr wrap="square" lIns="0" rIns="0" tIns="0" bIns="0" anchor="t">
            <a:spAutoFit/>
          </a:bodyPr>
          <a:lstStyle/>
          <a:p>
            <a:pPr algn="l">
              <a:lnSpc>
                <a:spcPct val="104000"/>
              </a:lnSpc>
              <a:spcAft>
                <a:spcPts val="0"/>
              </a:spcAft>
            </a:pPr>
            <a:r>
              <a:rPr sz="1520" b="1" i="0">
                <a:solidFill>
                  <a:srgbClr val="192432"/>
                </a:solidFill>
                <a:latin typeface="Arial"/>
              </a:rPr>
              <a:t>Q131 final</a:t>
            </a:r>
          </a:p>
        </p:txBody>
      </p:sp>
      <p:sp>
        <p:nvSpPr>
          <p:cNvPr id="48" name="Rectangle 47"/>
          <p:cNvSpPr/>
          <p:nvPr/>
        </p:nvSpPr>
        <p:spPr>
          <a:xfrm>
            <a:off x="2011680" y="4123944"/>
            <a:ext cx="987552" cy="740664"/>
          </a:xfrm>
          <a:prstGeom prst="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66544" y="4343400"/>
            <a:ext cx="877824" cy="274320"/>
          </a:xfrm>
          <a:prstGeom prst="rect">
            <a:avLst/>
          </a:prstGeom>
          <a:noFill/>
        </p:spPr>
        <p:txBody>
          <a:bodyPr wrap="square" lIns="0" rIns="0" tIns="0" bIns="0" anchor="t">
            <a:spAutoFit/>
          </a:bodyPr>
          <a:lstStyle/>
          <a:p>
            <a:pPr algn="ctr">
              <a:lnSpc>
                <a:spcPct val="104000"/>
              </a:lnSpc>
              <a:spcAft>
                <a:spcPts val="0"/>
              </a:spcAft>
            </a:pPr>
            <a:r>
              <a:rPr sz="1520" b="0" i="0">
                <a:solidFill>
                  <a:srgbClr val="192432"/>
                </a:solidFill>
                <a:latin typeface="Arial"/>
              </a:rPr>
              <a:t>131</a:t>
            </a:r>
          </a:p>
        </p:txBody>
      </p:sp>
      <p:sp>
        <p:nvSpPr>
          <p:cNvPr id="50" name="Rectangle 49"/>
          <p:cNvSpPr/>
          <p:nvPr/>
        </p:nvSpPr>
        <p:spPr>
          <a:xfrm>
            <a:off x="2999232" y="4123944"/>
            <a:ext cx="969264" cy="740664"/>
          </a:xfrm>
          <a:prstGeom prst="rect">
            <a:avLst/>
          </a:prstGeom>
          <a:solidFill>
            <a:srgbClr val="FFFFFF"/>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054096" y="4343400"/>
            <a:ext cx="859536" cy="274320"/>
          </a:xfrm>
          <a:prstGeom prst="rect">
            <a:avLst/>
          </a:prstGeom>
          <a:noFill/>
        </p:spPr>
        <p:txBody>
          <a:bodyPr wrap="square" lIns="0" rIns="0" tIns="0" bIns="0" anchor="t">
            <a:spAutoFit/>
          </a:bodyPr>
          <a:lstStyle/>
          <a:p>
            <a:pPr algn="ctr">
              <a:lnSpc>
                <a:spcPct val="104000"/>
              </a:lnSpc>
              <a:spcAft>
                <a:spcPts val="0"/>
              </a:spcAft>
            </a:pPr>
            <a:r>
              <a:rPr sz="1520" b="0" i="0">
                <a:solidFill>
                  <a:srgbClr val="192432"/>
                </a:solidFill>
                <a:latin typeface="Arial"/>
              </a:rPr>
              <a:t>SAT</a:t>
            </a:r>
          </a:p>
        </p:txBody>
      </p:sp>
      <p:sp>
        <p:nvSpPr>
          <p:cNvPr id="52" name="Rectangle 51"/>
          <p:cNvSpPr/>
          <p:nvPr/>
        </p:nvSpPr>
        <p:spPr>
          <a:xfrm>
            <a:off x="3968496" y="4123944"/>
            <a:ext cx="1069848" cy="740664"/>
          </a:xfrm>
          <a:prstGeom prst="rect">
            <a:avLst/>
          </a:prstGeom>
          <a:solidFill>
            <a:srgbClr val="E2F5EB"/>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23359" y="4343400"/>
            <a:ext cx="960119" cy="274320"/>
          </a:xfrm>
          <a:prstGeom prst="rect">
            <a:avLst/>
          </a:prstGeom>
          <a:noFill/>
        </p:spPr>
        <p:txBody>
          <a:bodyPr wrap="square" lIns="0" rIns="0" tIns="0" bIns="0" anchor="t">
            <a:spAutoFit/>
          </a:bodyPr>
          <a:lstStyle/>
          <a:p>
            <a:pPr algn="ctr">
              <a:lnSpc>
                <a:spcPct val="104000"/>
              </a:lnSpc>
              <a:spcAft>
                <a:spcPts val="0"/>
              </a:spcAft>
            </a:pPr>
            <a:r>
              <a:rPr sz="1520" b="1" i="0">
                <a:solidFill>
                  <a:srgbClr val="258B5D"/>
                </a:solidFill>
                <a:latin typeface="Arial"/>
              </a:rPr>
              <a:t>UNSAT</a:t>
            </a:r>
          </a:p>
        </p:txBody>
      </p:sp>
      <p:sp>
        <p:nvSpPr>
          <p:cNvPr id="54" name="Rectangle 53"/>
          <p:cNvSpPr/>
          <p:nvPr/>
        </p:nvSpPr>
        <p:spPr>
          <a:xfrm>
            <a:off x="5038344" y="4123944"/>
            <a:ext cx="2048256" cy="740664"/>
          </a:xfrm>
          <a:prstGeom prst="rect">
            <a:avLst/>
          </a:prstGeom>
          <a:solidFill>
            <a:srgbClr val="E2F5EB"/>
          </a:solidFill>
          <a:ln w="10160">
            <a:solidFill>
              <a:srgbClr val="CD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93207" y="4343400"/>
            <a:ext cx="1938528" cy="274320"/>
          </a:xfrm>
          <a:prstGeom prst="rect">
            <a:avLst/>
          </a:prstGeom>
          <a:noFill/>
        </p:spPr>
        <p:txBody>
          <a:bodyPr wrap="square" lIns="0" rIns="0" tIns="0" bIns="0" anchor="t">
            <a:spAutoFit/>
          </a:bodyPr>
          <a:lstStyle/>
          <a:p>
            <a:pPr algn="ctr">
              <a:lnSpc>
                <a:spcPct val="104000"/>
              </a:lnSpc>
              <a:spcAft>
                <a:spcPts val="0"/>
              </a:spcAft>
            </a:pPr>
            <a:r>
              <a:rPr sz="1520" b="1" i="0">
                <a:solidFill>
                  <a:srgbClr val="258B5D"/>
                </a:solidFill>
                <a:latin typeface="Arial"/>
              </a:rPr>
              <a:t>full-key unique</a:t>
            </a:r>
          </a:p>
        </p:txBody>
      </p:sp>
      <p:sp>
        <p:nvSpPr>
          <p:cNvPr id="56" name="TextBox 55"/>
          <p:cNvSpPr txBox="1"/>
          <p:nvPr/>
        </p:nvSpPr>
        <p:spPr>
          <a:xfrm>
            <a:off x="676656" y="4553712"/>
            <a:ext cx="6638544" cy="182880"/>
          </a:xfrm>
          <a:prstGeom prst="rect">
            <a:avLst/>
          </a:prstGeom>
          <a:noFill/>
        </p:spPr>
        <p:txBody>
          <a:bodyPr wrap="square" lIns="0" rIns="0" tIns="0" bIns="0" anchor="t">
            <a:spAutoFit/>
          </a:bodyPr>
          <a:lstStyle/>
          <a:p>
            <a:pPr algn="l">
              <a:lnSpc>
                <a:spcPct val="104000"/>
              </a:lnSpc>
              <a:spcAft>
                <a:spcPts val="0"/>
              </a:spcAft>
            </a:pPr>
            <a:r>
              <a:rPr sz="1050" b="0" i="0">
                <a:solidFill>
                  <a:srgbClr val="5C6C7E"/>
                </a:solidFill>
                <a:latin typeface="Arial"/>
              </a:rPr>
              <a:t>Q131 result source: q131_mc_hypothesis_solver_attack.json</a:t>
            </a:r>
          </a:p>
        </p:txBody>
      </p:sp>
      <p:sp>
        <p:nvSpPr>
          <p:cNvPr id="57" name="Rounded Rectangle 56"/>
          <p:cNvSpPr/>
          <p:nvPr/>
        </p:nvSpPr>
        <p:spPr>
          <a:xfrm>
            <a:off x="7699248" y="1426464"/>
            <a:ext cx="3941063" cy="3456432"/>
          </a:xfrm>
          <a:prstGeom prst="roundRect">
            <a:avLst/>
          </a:prstGeom>
          <a:solidFill>
            <a:srgbClr val="111F34"/>
          </a:solidFill>
          <a:ln w="10160">
            <a:solidFill>
              <a:srgbClr val="11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973568" y="1700784"/>
            <a:ext cx="1225296" cy="292608"/>
          </a:xfrm>
          <a:prstGeom prst="rect">
            <a:avLst/>
          </a:prstGeom>
          <a:solidFill>
            <a:srgbClr val="009697"/>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19288" y="1714500"/>
            <a:ext cx="1133856" cy="228600"/>
          </a:xfrm>
          <a:prstGeom prst="rect">
            <a:avLst/>
          </a:prstGeom>
          <a:noFill/>
        </p:spPr>
        <p:txBody>
          <a:bodyPr wrap="square" lIns="0" rIns="0" tIns="0" bIns="0" anchor="t">
            <a:spAutoFit/>
          </a:bodyPr>
          <a:lstStyle/>
          <a:p>
            <a:pPr algn="ctr">
              <a:lnSpc>
                <a:spcPct val="104000"/>
              </a:lnSpc>
              <a:spcAft>
                <a:spcPts val="0"/>
              </a:spcAft>
            </a:pPr>
            <a:r>
              <a:rPr sz="1100" b="1" i="0">
                <a:solidFill>
                  <a:srgbClr val="FFFFFF"/>
                </a:solidFill>
                <a:latin typeface="Arial"/>
              </a:rPr>
              <a:t>FINAL PASS</a:t>
            </a:r>
          </a:p>
        </p:txBody>
      </p:sp>
      <p:sp>
        <p:nvSpPr>
          <p:cNvPr id="60" name="TextBox 59"/>
          <p:cNvSpPr txBox="1"/>
          <p:nvPr/>
        </p:nvSpPr>
        <p:spPr>
          <a:xfrm>
            <a:off x="7973568" y="2194560"/>
            <a:ext cx="3364992" cy="548640"/>
          </a:xfrm>
          <a:prstGeom prst="rect">
            <a:avLst/>
          </a:prstGeom>
          <a:noFill/>
        </p:spPr>
        <p:txBody>
          <a:bodyPr wrap="square" lIns="0" rIns="0" tIns="0" bIns="0" anchor="t">
            <a:spAutoFit/>
          </a:bodyPr>
          <a:lstStyle/>
          <a:p>
            <a:pPr algn="l">
              <a:lnSpc>
                <a:spcPct val="104000"/>
              </a:lnSpc>
              <a:spcAft>
                <a:spcPts val="0"/>
              </a:spcAft>
            </a:pPr>
            <a:r>
              <a:rPr sz="4400" b="1" i="0">
                <a:solidFill>
                  <a:srgbClr val="FFFFFF"/>
                </a:solidFill>
                <a:latin typeface="Arial"/>
              </a:rPr>
              <a:t>Q131</a:t>
            </a:r>
          </a:p>
        </p:txBody>
      </p:sp>
      <p:sp>
        <p:nvSpPr>
          <p:cNvPr id="61" name="TextBox 60"/>
          <p:cNvSpPr txBox="1"/>
          <p:nvPr/>
        </p:nvSpPr>
        <p:spPr>
          <a:xfrm>
            <a:off x="7973568" y="2816352"/>
            <a:ext cx="3291840" cy="384048"/>
          </a:xfrm>
          <a:prstGeom prst="rect">
            <a:avLst/>
          </a:prstGeom>
          <a:noFill/>
        </p:spPr>
        <p:txBody>
          <a:bodyPr wrap="square" lIns="0" rIns="0" tIns="0" bIns="0" anchor="t">
            <a:spAutoFit/>
          </a:bodyPr>
          <a:lstStyle/>
          <a:p>
            <a:pPr algn="l">
              <a:lnSpc>
                <a:spcPct val="104000"/>
              </a:lnSpc>
              <a:spcAft>
                <a:spcPts val="0"/>
              </a:spcAft>
            </a:pPr>
            <a:r>
              <a:rPr sz="2600" b="1" i="0">
                <a:solidFill>
                  <a:srgbClr val="009697"/>
                </a:solidFill>
                <a:latin typeface="Arial"/>
              </a:rPr>
              <a:t>SAT  →  UNSAT</a:t>
            </a:r>
          </a:p>
        </p:txBody>
      </p:sp>
      <p:sp>
        <p:nvSpPr>
          <p:cNvPr id="62" name="TextBox 61"/>
          <p:cNvSpPr txBox="1"/>
          <p:nvPr/>
        </p:nvSpPr>
        <p:spPr>
          <a:xfrm>
            <a:off x="7973568" y="3401568"/>
            <a:ext cx="3182112" cy="1051560"/>
          </a:xfrm>
          <a:prstGeom prst="rect">
            <a:avLst/>
          </a:prstGeom>
          <a:noFill/>
        </p:spPr>
        <p:txBody>
          <a:bodyPr wrap="square" lIns="18288" rIns="18288" tIns="18288" bIns="18288" anchor="t">
            <a:spAutoFit/>
          </a:bodyPr>
          <a:lstStyle/>
          <a:p>
            <a:pPr algn="l">
              <a:lnSpc>
                <a:spcPct val="104000"/>
              </a:lnSpc>
              <a:spcAft>
                <a:spcPts val="0"/>
              </a:spcAft>
            </a:pPr>
            <a:r>
              <a:rPr sz="1620" b="0" i="0">
                <a:solidFill>
                  <a:srgbClr val="FFFFFF"/>
                </a:solidFill>
                <a:latin typeface="Arial"/>
              </a:rPr>
              <a:t>surviving hypothesis: h09
MC bit 9 · C0 · row 1 / bit 1
key exclusion scope: all surviving hypotheses
UNKNOWN / timeout: 0 / 0</a:t>
            </a:r>
          </a:p>
        </p:txBody>
      </p:sp>
      <p:sp>
        <p:nvSpPr>
          <p:cNvPr id="63" name="Rounded Rectangle 62"/>
          <p:cNvSpPr/>
          <p:nvPr/>
        </p:nvSpPr>
        <p:spPr>
          <a:xfrm>
            <a:off x="530352" y="5138928"/>
            <a:ext cx="5376672" cy="1115568"/>
          </a:xfrm>
          <a:prstGeom prst="roundRect">
            <a:avLst/>
          </a:prstGeom>
          <a:solidFill>
            <a:srgbClr val="E5EDF8"/>
          </a:solidFill>
          <a:ln w="10160">
            <a:solidFill>
              <a:srgbClr val="E5E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49808" y="5340096"/>
            <a:ext cx="1353312" cy="292608"/>
          </a:xfrm>
          <a:prstGeom prst="rect">
            <a:avLst/>
          </a:prstGeom>
          <a:solidFill>
            <a:srgbClr val="009697"/>
          </a:solidFill>
          <a:ln w="10160">
            <a:solidFill>
              <a:srgbClr val="009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5528" y="5353812"/>
            <a:ext cx="1261872" cy="228600"/>
          </a:xfrm>
          <a:prstGeom prst="rect">
            <a:avLst/>
          </a:prstGeom>
          <a:noFill/>
        </p:spPr>
        <p:txBody>
          <a:bodyPr wrap="square" lIns="0" rIns="0" tIns="0" bIns="0" anchor="t">
            <a:spAutoFit/>
          </a:bodyPr>
          <a:lstStyle/>
          <a:p>
            <a:pPr algn="ctr">
              <a:lnSpc>
                <a:spcPct val="104000"/>
              </a:lnSpc>
              <a:spcAft>
                <a:spcPts val="0"/>
              </a:spcAft>
            </a:pPr>
            <a:r>
              <a:rPr sz="1100" b="1" i="0">
                <a:solidFill>
                  <a:srgbClr val="FFFFFF"/>
                </a:solidFill>
                <a:latin typeface="Arial"/>
              </a:rPr>
              <a:t>무엇이 증명됐나</a:t>
            </a:r>
          </a:p>
        </p:txBody>
      </p:sp>
      <p:sp>
        <p:nvSpPr>
          <p:cNvPr id="66" name="TextBox 65"/>
          <p:cNvSpPr txBox="1"/>
          <p:nvPr/>
        </p:nvSpPr>
        <p:spPr>
          <a:xfrm>
            <a:off x="768096" y="5687568"/>
            <a:ext cx="4700016" cy="310896"/>
          </a:xfrm>
          <a:prstGeom prst="rect">
            <a:avLst/>
          </a:prstGeom>
          <a:noFill/>
        </p:spPr>
        <p:txBody>
          <a:bodyPr wrap="square" lIns="18288" rIns="18288" tIns="18288" bIns="18288" anchor="t">
            <a:spAutoFit/>
          </a:bodyPr>
          <a:lstStyle/>
          <a:p>
            <a:pPr algn="l">
              <a:lnSpc>
                <a:spcPct val="104000"/>
              </a:lnSpc>
              <a:spcAft>
                <a:spcPts val="0"/>
              </a:spcAft>
            </a:pPr>
            <a:r>
              <a:rPr sz="1620" b="1" i="0">
                <a:solidFill>
                  <a:srgbClr val="111F34"/>
                </a:solidFill>
                <a:latin typeface="Arial"/>
              </a:rPr>
              <a:t>anonymous scan slot → MC hypothesis → gate-level transcript → adaptive full-key uniqueness</a:t>
            </a:r>
          </a:p>
        </p:txBody>
      </p:sp>
      <p:sp>
        <p:nvSpPr>
          <p:cNvPr id="67" name="Rounded Rectangle 66"/>
          <p:cNvSpPr/>
          <p:nvPr/>
        </p:nvSpPr>
        <p:spPr>
          <a:xfrm>
            <a:off x="6163056" y="5138928"/>
            <a:ext cx="5477256" cy="1115568"/>
          </a:xfrm>
          <a:prstGeom prst="roundRect">
            <a:avLst/>
          </a:prstGeom>
          <a:solidFill>
            <a:srgbClr val="FDEFE1"/>
          </a:solidFill>
          <a:ln w="10160">
            <a:solidFill>
              <a:srgbClr val="FD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382512" y="5340096"/>
            <a:ext cx="960120" cy="292608"/>
          </a:xfrm>
          <a:prstGeom prst="rect">
            <a:avLst/>
          </a:prstGeom>
          <a:solidFill>
            <a:srgbClr val="EC842F"/>
          </a:solidFill>
          <a:ln w="10160">
            <a:solidFill>
              <a:srgbClr val="EC8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28232" y="5353812"/>
            <a:ext cx="868680" cy="228600"/>
          </a:xfrm>
          <a:prstGeom prst="rect">
            <a:avLst/>
          </a:prstGeom>
          <a:noFill/>
        </p:spPr>
        <p:txBody>
          <a:bodyPr wrap="square" lIns="0" rIns="0" tIns="0" bIns="0" anchor="t">
            <a:spAutoFit/>
          </a:bodyPr>
          <a:lstStyle/>
          <a:p>
            <a:pPr algn="ctr">
              <a:lnSpc>
                <a:spcPct val="104000"/>
              </a:lnSpc>
              <a:spcAft>
                <a:spcPts val="0"/>
              </a:spcAft>
            </a:pPr>
            <a:r>
              <a:rPr sz="1100" b="1" i="0">
                <a:solidFill>
                  <a:srgbClr val="FFFFFF"/>
                </a:solidFill>
                <a:latin typeface="Arial"/>
              </a:rPr>
              <a:t>주장 범위</a:t>
            </a:r>
          </a:p>
        </p:txBody>
      </p:sp>
      <p:sp>
        <p:nvSpPr>
          <p:cNvPr id="70" name="TextBox 69"/>
          <p:cNvSpPr txBox="1"/>
          <p:nvPr/>
        </p:nvSpPr>
        <p:spPr>
          <a:xfrm>
            <a:off x="6391656" y="5641848"/>
            <a:ext cx="4983480" cy="438912"/>
          </a:xfrm>
          <a:prstGeom prst="rect">
            <a:avLst/>
          </a:prstGeom>
          <a:noFill/>
        </p:spPr>
        <p:txBody>
          <a:bodyPr wrap="square" lIns="18288" rIns="18288" tIns="18288" bIns="18288" anchor="t">
            <a:spAutoFit/>
          </a:bodyPr>
          <a:lstStyle/>
          <a:p>
            <a:pPr algn="l">
              <a:lnSpc>
                <a:spcPct val="104000"/>
              </a:lnSpc>
              <a:spcAft>
                <a:spcPts val="0"/>
              </a:spcAft>
            </a:pPr>
            <a:r>
              <a:rPr sz="1520" b="0" i="0">
                <a:solidFill>
                  <a:srgbClr val="192432"/>
                </a:solidFill>
                <a:latin typeface="Arial"/>
              </a:rPr>
              <a:t>대표적인 MC scan-visible DUT의 EDA composability를 검증했다. 모든 AES retiming·routing에서의 노출 빈도까지 일반화한 결과는 아니다.</a:t>
            </a:r>
          </a:p>
        </p:txBody>
      </p:sp>
      <p:sp>
        <p:nvSpPr>
          <p:cNvPr id="71" name="TextBox 70"/>
          <p:cNvSpPr txBox="1"/>
          <p:nvPr/>
        </p:nvSpPr>
        <p:spPr>
          <a:xfrm>
            <a:off x="548640" y="6583680"/>
            <a:ext cx="11064240" cy="164592"/>
          </a:xfrm>
          <a:prstGeom prst="rect">
            <a:avLst/>
          </a:prstGeom>
          <a:noFill/>
        </p:spPr>
        <p:txBody>
          <a:bodyPr wrap="square" lIns="0" rIns="0" tIns="0" bIns="0" anchor="t">
            <a:spAutoFit/>
          </a:bodyPr>
          <a:lstStyle/>
          <a:p>
            <a:pPr algn="l">
              <a:lnSpc>
                <a:spcPct val="104000"/>
              </a:lnSpc>
              <a:spcAft>
                <a:spcPts val="0"/>
              </a:spcAft>
            </a:pPr>
            <a:r>
              <a:rPr sz="950" b="0" i="0">
                <a:solidFill>
                  <a:srgbClr val="5C6C7E"/>
                </a:solidFill>
                <a:latin typeface="Arial"/>
              </a:rPr>
              <a:t>Evidence: extra_exp/results/final_summary.json · phase_b/q131_mc_hypothesis_solver_attack.json · Verdi FSDB / VCS gate transcript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